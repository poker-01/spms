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01.svg" ContentType="image/svg+xml"/>
  <Override PartName="/ppt/media/image12.svg" ContentType="image/svg+xml"/>
  <Override PartName="/ppt/media/image20.svg" ContentType="image/svg+xml"/>
  <Override PartName="/ppt/media/image22.svg" ContentType="image/svg+xml"/>
  <Override PartName="/ppt/media/image25.svg" ContentType="image/svg+xml"/>
  <Override PartName="/ppt/media/image27.svg" ContentType="image/svg+xml"/>
  <Override PartName="/ppt/media/image29.svg" ContentType="image/svg+xml"/>
  <Override PartName="/ppt/media/image3.svg" ContentType="image/svg+xml"/>
  <Override PartName="/ppt/media/image31.svg" ContentType="image/svg+xml"/>
  <Override PartName="/ppt/media/image35.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media/image60.svg" ContentType="image/svg+xml"/>
  <Override PartName="/ppt/media/image62.svg" ContentType="image/svg+xml"/>
  <Override PartName="/ppt/media/image64.svg" ContentType="image/svg+xml"/>
  <Override PartName="/ppt/media/image66.svg" ContentType="image/svg+xml"/>
  <Override PartName="/ppt/media/image68.svg" ContentType="image/svg+xml"/>
  <Override PartName="/ppt/media/image8.svg" ContentType="image/svg+xml"/>
  <Override PartName="/ppt/media/image89.svg" ContentType="image/svg+xml"/>
  <Override PartName="/ppt/media/image91.svg" ContentType="image/svg+xml"/>
  <Override PartName="/ppt/media/image93.svg" ContentType="image/svg+xml"/>
  <Override PartName="/ppt/media/image95.svg" ContentType="image/svg+xml"/>
  <Override PartName="/ppt/media/image97.svg" ContentType="image/svg+xml"/>
  <Override PartName="/ppt/media/image9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84" r:id="rId6"/>
    <p:sldId id="257" r:id="rId7"/>
    <p:sldId id="258" r:id="rId8"/>
    <p:sldId id="279" r:id="rId9"/>
    <p:sldId id="262" r:id="rId10"/>
    <p:sldId id="281" r:id="rId11"/>
    <p:sldId id="286" r:id="rId12"/>
    <p:sldId id="282" r:id="rId13"/>
    <p:sldId id="266" r:id="rId14"/>
    <p:sldId id="267" r:id="rId15"/>
    <p:sldId id="268" r:id="rId16"/>
    <p:sldId id="269" r:id="rId17"/>
    <p:sldId id="271" r:id="rId18"/>
    <p:sldId id="272" r:id="rId19"/>
    <p:sldId id="273" r:id="rId20"/>
    <p:sldId id="274" r:id="rId21"/>
    <p:sldId id="285" r:id="rId22"/>
    <p:sldId id="276" r:id="rId23"/>
    <p:sldId id="277" r:id="rId24"/>
    <p:sldId id="278" r:id="rId25"/>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760" userDrawn="1">
          <p15:clr>
            <a:srgbClr val="747775"/>
          </p15:clr>
        </p15:guide>
        <p15:guide id="2" pos="2956"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760"/>
        <p:guide pos="2956"/>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答辩将围绕六个核心部分展开。首先是项目概述，我们会介绍项目背景、价值以及技术选型的考量。其次是系统整体设计，包括架构、数据库和API设计。接着，我们会展示手工编码的核心成果。第四部分将重点介绍AI辅助开发的实践经验。第五部分是系统功能的演示。最后，进行实训总结与展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答辩将围绕六个核心部分展开。首先是项目概述，我们会介绍项目背景、价值以及技术选型的考量。其次是系统整体设计，包括架构、数据库和API设计。接着，我们会展示手工编码的核心成果。第四部分将重点介绍AI辅助开发的实践经验。第五部分是系统功能的演示。最后，进行实训总结与展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现在我们进入第一部分：项目概述。在这一章，我们将深入探讨项目的起源背景，分析传统物业管理面临的困境，并阐述我们开发的智慧物业管理系统所带来的核心价值。同时，我们也会详细说明为什么选择Spring Boot和Vue3作为我们的核心技术栈。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现在我们进入第一部分：项目概述。在这一章，我们将深入探讨项目的起源背景，分析传统物业管理面临的困境，并阐述我们开发的智慧物业管理系统所带来的核心价值。同时，我们也会详细说明为什么选择Spring Boot和Vue3作为我们的核心技术栈。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接下来进入第二部分，系统整体设计。在这一部分，我将向大家介绍我们系统的整体架构、数据库设计思路以及RESTful API的设计原则。</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接下来进入第二部分，系统整体设计。在这一部分，我将向大家介绍我们系统的整体架构、数据库设计思路以及RESTful API的设计原则。</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接下来进入第二部分，系统整体设计。在这一部分，我将向大家介绍我们系统的整体架构、数据库设计思路以及RESTful API的设计原则。</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接下来进入第二部分，系统整体设计。在这一部分，我将向大家介绍我们系统的整体架构、数据库设计思路以及RESTful API的设计原则。</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第三部分，我们将展示手工编码阶段的核心成果，重点介绍两个关键技术的实现：JWT登录认证和基于RBAC的权限控制。</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实现了基于JWT的无状态登录认证。用户登录成功后，后端会生成一个包含用户信息的Token返回给前端。前端将Token存储起来，在后续的所有请求中携带该Token。后端通过拦截器验证Token的有效性，从而确认用户身份。这里展示的是我们JWT工具类中生成Token的核心代码，它将用户角色等信息加密后放入Token中。</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在权限控制方面，我们采用了成熟的RBAC模型。后端通过Spring Security的注解，对每个API接口进行细粒度的权限保护。前端则在用户登录后，根据后端返回的权限列表，动态地生成可访问的路由和菜单。这种前后端协同的权限控制方式，既保证了API的安全，也优化了用户体验，不同权限的用户看到的界面是不同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第四部分，我们将分享本次实训中引入AI辅助开发的实践经验。我们将介绍AI辅助开发的具体流程，分析其带来的效率提升，并探讨相关的风险与应对策略。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当然，AI辅助开发也伴随着风险，比如逻辑正确性、安全漏洞等。为了应对这些风险，我们制定了严格的校验规范。所有AI生成的代码都必须经过人工的Code Review，并辅以完备的测试用例来保证质量。同时，我们坚持核心业务逻辑由人工编写，将AI作为强大的辅助工具，而不是完全依赖。</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第五部分，我们将通过一系列截图来演示系统的核心功能模块。由于时间关系，这里我们将展示几个关键模块的界面和功能。</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是权限管理模块。管理员可以方便地管理用户、角色和菜单权限。我们实现了基于角色的访问控制，不同角色的用户登录后，看到的系统功能是不同的。同时，基础数据管理模块提供了对小区、楼栋、房屋等核心数据的完整CRUD操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在物业服务模块，业主可以方便地提交报修和投诉，并随时跟踪处理状态。物业端则能高效地处理这些服务请求。财务管理模块实现了账单的生成和缴费功能，业主可以在线查看并支付账单，整个流程清晰透明。</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在物业服务模块，业主可以方便地提交报修和投诉，并随时跟踪处理状态。物业端则能高效地处理这些服务请求。财务管理模块实现了账单的生成和缴费功能，业主可以在线查看并支付账单，整个流程清晰透明。</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最后，进入第六部分，实训总结与展望。我们将分享本次项目开发中的收获，反思当前系统的不足，并对未来的发展方向进行规划。</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通过这次实训，我们不仅提升了手工编码能力，深入理解了主流框架和核心技术，更重要的是，我们亲身体验了AI辅助开发带来的效率革命，对未来的软件开发模式有了新的认识。当然，我们的系统还有很多不足，比如功能深度和移动端支持的缺失。展望未来，我们计划集成物联网技术，进行微服务化改造，并开发移动端App，让系统更加智能和完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我的汇报到此结束。感谢各位评委老师的耐心聆听与指导！</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2.xml"/><Relationship Id="rId5" Type="http://schemas.openxmlformats.org/officeDocument/2006/relationships/image" Target="../media/image5.svg"/><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6.jpeg"/></Relationships>
</file>

<file path=ppt/slides/_rels/slide4.xml.rels><?xml version="1.0" encoding="UTF-8" standalone="yes"?>
<Relationships xmlns="http://schemas.openxmlformats.org/package/2006/relationships"><Relationship Id="rId9" Type="http://schemas.openxmlformats.org/officeDocument/2006/relationships/notesSlide" Target="../notesSlides/notesSlide4.xml"/><Relationship Id="rId8" Type="http://schemas.openxmlformats.org/officeDocument/2006/relationships/slideLayout" Target="../slideLayouts/slideLayout12.xml"/><Relationship Id="rId7" Type="http://schemas.openxmlformats.org/officeDocument/2006/relationships/image" Target="../media/image12.svg"/><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image" Target="../media/image6.jpeg"/></Relationships>
</file>

<file path=ppt/slides/_rels/slide5.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slideLayout" Target="../slideLayouts/slideLayout12.xml"/><Relationship Id="rId7" Type="http://schemas.openxmlformats.org/officeDocument/2006/relationships/image" Target="../media/image12.svg"/><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image" Target="../media/image6.jpe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2.xml"/><Relationship Id="rId2" Type="http://schemas.openxmlformats.org/officeDocument/2006/relationships/image" Target="../media/image13.png"/><Relationship Id="rId1" Type="http://schemas.openxmlformats.org/officeDocument/2006/relationships/image" Target="../media/image6.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2.xml"/><Relationship Id="rId2" Type="http://schemas.openxmlformats.org/officeDocument/2006/relationships/image" Target="../media/image14.png"/><Relationship Id="rId1" Type="http://schemas.openxmlformats.org/officeDocument/2006/relationships/image" Target="../media/image6.jpe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2.xml"/><Relationship Id="rId2" Type="http://schemas.openxmlformats.org/officeDocument/2006/relationships/image" Target="../media/image15.png"/><Relationship Id="rId1" Type="http://schemas.openxmlformats.org/officeDocument/2006/relationships/image" Target="../media/image6.jpe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2.xml"/><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6.jpeg"/></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12.xml"/><Relationship Id="rId5" Type="http://schemas.openxmlformats.org/officeDocument/2006/relationships/image" Target="../media/image22.svg"/><Relationship Id="rId4" Type="http://schemas.openxmlformats.org/officeDocument/2006/relationships/image" Target="../media/image21.png"/><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image" Target="../media/image6.jpeg"/></Relationships>
</file>

<file path=ppt/slides/_rels/slide11.xml.rels><?xml version="1.0" encoding="UTF-8" standalone="yes"?>
<Relationships xmlns="http://schemas.openxmlformats.org/package/2006/relationships"><Relationship Id="rId9" Type="http://schemas.openxmlformats.org/officeDocument/2006/relationships/image" Target="../media/image27.svg"/><Relationship Id="rId8" Type="http://schemas.openxmlformats.org/officeDocument/2006/relationships/image" Target="../media/image26.png"/><Relationship Id="rId7" Type="http://schemas.openxmlformats.org/officeDocument/2006/relationships/image" Target="../media/image25.svg"/><Relationship Id="rId6" Type="http://schemas.openxmlformats.org/officeDocument/2006/relationships/image" Target="../media/image24.png"/><Relationship Id="rId5" Type="http://schemas.openxmlformats.org/officeDocument/2006/relationships/image" Target="../media/image20.svg"/><Relationship Id="rId4" Type="http://schemas.openxmlformats.org/officeDocument/2006/relationships/image" Target="../media/image19.png"/><Relationship Id="rId3" Type="http://schemas.openxmlformats.org/officeDocument/2006/relationships/image" Target="../media/image3.svg"/><Relationship Id="rId2" Type="http://schemas.openxmlformats.org/officeDocument/2006/relationships/image" Target="../media/image23.png"/><Relationship Id="rId17" Type="http://schemas.openxmlformats.org/officeDocument/2006/relationships/notesSlide" Target="../notesSlides/notesSlide11.xml"/><Relationship Id="rId16" Type="http://schemas.openxmlformats.org/officeDocument/2006/relationships/slideLayout" Target="../slideLayouts/slideLayout12.xml"/><Relationship Id="rId15" Type="http://schemas.openxmlformats.org/officeDocument/2006/relationships/image" Target="../media/image33.png"/><Relationship Id="rId14" Type="http://schemas.openxmlformats.org/officeDocument/2006/relationships/image" Target="../media/image32.png"/><Relationship Id="rId13" Type="http://schemas.openxmlformats.org/officeDocument/2006/relationships/image" Target="../media/image31.svg"/><Relationship Id="rId12" Type="http://schemas.openxmlformats.org/officeDocument/2006/relationships/image" Target="../media/image30.png"/><Relationship Id="rId11" Type="http://schemas.openxmlformats.org/officeDocument/2006/relationships/image" Target="../media/image29.svg"/><Relationship Id="rId10" Type="http://schemas.openxmlformats.org/officeDocument/2006/relationships/image" Target="../media/image28.png"/><Relationship Id="rId1" Type="http://schemas.openxmlformats.org/officeDocument/2006/relationships/image" Target="../media/image6.jpeg"/></Relationships>
</file>

<file path=ppt/slides/_rels/slide12.xml.rels><?xml version="1.0" encoding="UTF-8" standalone="yes"?>
<Relationships xmlns="http://schemas.openxmlformats.org/package/2006/relationships"><Relationship Id="rId9" Type="http://schemas.openxmlformats.org/officeDocument/2006/relationships/image" Target="../media/image37.png"/><Relationship Id="rId8" Type="http://schemas.openxmlformats.org/officeDocument/2006/relationships/image" Target="../media/image36.png"/><Relationship Id="rId7" Type="http://schemas.openxmlformats.org/officeDocument/2006/relationships/image" Target="../media/image20.svg"/><Relationship Id="rId6" Type="http://schemas.openxmlformats.org/officeDocument/2006/relationships/image" Target="../media/image19.png"/><Relationship Id="rId5" Type="http://schemas.openxmlformats.org/officeDocument/2006/relationships/image" Target="../media/image25.svg"/><Relationship Id="rId4" Type="http://schemas.openxmlformats.org/officeDocument/2006/relationships/image" Target="../media/image24.png"/><Relationship Id="rId3" Type="http://schemas.openxmlformats.org/officeDocument/2006/relationships/image" Target="../media/image35.svg"/><Relationship Id="rId2" Type="http://schemas.openxmlformats.org/officeDocument/2006/relationships/image" Target="../media/image34.png"/><Relationship Id="rId14" Type="http://schemas.openxmlformats.org/officeDocument/2006/relationships/notesSlide" Target="../notesSlides/notesSlide12.xml"/><Relationship Id="rId13" Type="http://schemas.openxmlformats.org/officeDocument/2006/relationships/slideLayout" Target="../slideLayouts/slideLayout12.xml"/><Relationship Id="rId12" Type="http://schemas.openxmlformats.org/officeDocument/2006/relationships/image" Target="../media/image40.png"/><Relationship Id="rId11" Type="http://schemas.openxmlformats.org/officeDocument/2006/relationships/image" Target="../media/image39.png"/><Relationship Id="rId10" Type="http://schemas.openxmlformats.org/officeDocument/2006/relationships/image" Target="../media/image38.png"/><Relationship Id="rId1" Type="http://schemas.openxmlformats.org/officeDocument/2006/relationships/image" Target="../media/image6.jpeg"/></Relationships>
</file>

<file path=ppt/slides/_rels/slide13.xml.rels><?xml version="1.0" encoding="UTF-8" standalone="yes"?>
<Relationships xmlns="http://schemas.openxmlformats.org/package/2006/relationships"><Relationship Id="rId9" Type="http://schemas.openxmlformats.org/officeDocument/2006/relationships/notesSlide" Target="../notesSlides/notesSlide13.xml"/><Relationship Id="rId8" Type="http://schemas.openxmlformats.org/officeDocument/2006/relationships/slideLayout" Target="../slideLayouts/slideLayout12.xml"/><Relationship Id="rId7" Type="http://schemas.openxmlformats.org/officeDocument/2006/relationships/image" Target="../media/image20.svg"/><Relationship Id="rId6" Type="http://schemas.openxmlformats.org/officeDocument/2006/relationships/image" Target="../media/image19.png"/><Relationship Id="rId5" Type="http://schemas.openxmlformats.org/officeDocument/2006/relationships/image" Target="../media/image44.svg"/><Relationship Id="rId4" Type="http://schemas.openxmlformats.org/officeDocument/2006/relationships/image" Target="../media/image43.png"/><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image" Target="../media/image6.jpeg"/></Relationships>
</file>

<file path=ppt/slides/_rels/slide14.xml.rels><?xml version="1.0" encoding="UTF-8" standalone="yes"?>
<Relationships xmlns="http://schemas.openxmlformats.org/package/2006/relationships"><Relationship Id="rId9" Type="http://schemas.openxmlformats.org/officeDocument/2006/relationships/image" Target="../media/image52.svg"/><Relationship Id="rId8" Type="http://schemas.openxmlformats.org/officeDocument/2006/relationships/image" Target="../media/image51.png"/><Relationship Id="rId7" Type="http://schemas.openxmlformats.org/officeDocument/2006/relationships/image" Target="../media/image50.svg"/><Relationship Id="rId6" Type="http://schemas.openxmlformats.org/officeDocument/2006/relationships/image" Target="../media/image49.png"/><Relationship Id="rId5" Type="http://schemas.openxmlformats.org/officeDocument/2006/relationships/image" Target="../media/image48.svg"/><Relationship Id="rId4" Type="http://schemas.openxmlformats.org/officeDocument/2006/relationships/image" Target="../media/image47.png"/><Relationship Id="rId3" Type="http://schemas.openxmlformats.org/officeDocument/2006/relationships/image" Target="../media/image46.svg"/><Relationship Id="rId2" Type="http://schemas.openxmlformats.org/officeDocument/2006/relationships/image" Target="../media/image45.png"/><Relationship Id="rId19" Type="http://schemas.openxmlformats.org/officeDocument/2006/relationships/notesSlide" Target="../notesSlides/notesSlide14.xml"/><Relationship Id="rId18" Type="http://schemas.openxmlformats.org/officeDocument/2006/relationships/slideLayout" Target="../slideLayouts/slideLayout12.xml"/><Relationship Id="rId17" Type="http://schemas.openxmlformats.org/officeDocument/2006/relationships/image" Target="../media/image58.svg"/><Relationship Id="rId16" Type="http://schemas.openxmlformats.org/officeDocument/2006/relationships/image" Target="../media/image57.png"/><Relationship Id="rId15" Type="http://schemas.openxmlformats.org/officeDocument/2006/relationships/image" Target="../media/image56.svg"/><Relationship Id="rId14" Type="http://schemas.openxmlformats.org/officeDocument/2006/relationships/image" Target="../media/image55.png"/><Relationship Id="rId13" Type="http://schemas.openxmlformats.org/officeDocument/2006/relationships/image" Target="../media/image31.svg"/><Relationship Id="rId12" Type="http://schemas.openxmlformats.org/officeDocument/2006/relationships/image" Target="../media/image30.png"/><Relationship Id="rId11" Type="http://schemas.openxmlformats.org/officeDocument/2006/relationships/image" Target="../media/image54.svg"/><Relationship Id="rId10" Type="http://schemas.openxmlformats.org/officeDocument/2006/relationships/image" Target="../media/image53.png"/><Relationship Id="rId1" Type="http://schemas.openxmlformats.org/officeDocument/2006/relationships/image" Target="../media/image6.jpeg"/></Relationships>
</file>

<file path=ppt/slides/_rels/slide15.xml.rels><?xml version="1.0" encoding="UTF-8" standalone="yes"?>
<Relationships xmlns="http://schemas.openxmlformats.org/package/2006/relationships"><Relationship Id="rId9" Type="http://schemas.openxmlformats.org/officeDocument/2006/relationships/notesSlide" Target="../notesSlides/notesSlide15.xml"/><Relationship Id="rId8" Type="http://schemas.openxmlformats.org/officeDocument/2006/relationships/slideLayout" Target="../slideLayouts/slideLayout12.xml"/><Relationship Id="rId7" Type="http://schemas.openxmlformats.org/officeDocument/2006/relationships/image" Target="../media/image64.svg"/><Relationship Id="rId6" Type="http://schemas.openxmlformats.org/officeDocument/2006/relationships/image" Target="../media/image63.png"/><Relationship Id="rId5" Type="http://schemas.openxmlformats.org/officeDocument/2006/relationships/image" Target="../media/image62.svg"/><Relationship Id="rId4" Type="http://schemas.openxmlformats.org/officeDocument/2006/relationships/image" Target="../media/image61.png"/><Relationship Id="rId3" Type="http://schemas.openxmlformats.org/officeDocument/2006/relationships/image" Target="../media/image60.svg"/><Relationship Id="rId2" Type="http://schemas.openxmlformats.org/officeDocument/2006/relationships/image" Target="../media/image59.png"/><Relationship Id="rId1" Type="http://schemas.openxmlformats.org/officeDocument/2006/relationships/image" Target="../media/image6.jpeg"/></Relationships>
</file>

<file path=ppt/slides/_rels/slide16.xml.rels><?xml version="1.0" encoding="UTF-8" standalone="yes"?>
<Relationships xmlns="http://schemas.openxmlformats.org/package/2006/relationships"><Relationship Id="rId9" Type="http://schemas.openxmlformats.org/officeDocument/2006/relationships/image" Target="../media/image72.jpeg"/><Relationship Id="rId8" Type="http://schemas.openxmlformats.org/officeDocument/2006/relationships/image" Target="../media/image71.jpeg"/><Relationship Id="rId7" Type="http://schemas.openxmlformats.org/officeDocument/2006/relationships/image" Target="../media/image70.jpeg"/><Relationship Id="rId6" Type="http://schemas.openxmlformats.org/officeDocument/2006/relationships/image" Target="../media/image69.png"/><Relationship Id="rId5" Type="http://schemas.openxmlformats.org/officeDocument/2006/relationships/image" Target="../media/image68.svg"/><Relationship Id="rId4" Type="http://schemas.openxmlformats.org/officeDocument/2006/relationships/image" Target="../media/image67.png"/><Relationship Id="rId3" Type="http://schemas.openxmlformats.org/officeDocument/2006/relationships/image" Target="../media/image66.svg"/><Relationship Id="rId2" Type="http://schemas.openxmlformats.org/officeDocument/2006/relationships/image" Target="../media/image65.png"/><Relationship Id="rId11" Type="http://schemas.openxmlformats.org/officeDocument/2006/relationships/notesSlide" Target="../notesSlides/notesSlide16.xml"/><Relationship Id="rId10" Type="http://schemas.openxmlformats.org/officeDocument/2006/relationships/slideLayout" Target="../slideLayouts/slideLayout12.xml"/><Relationship Id="rId1" Type="http://schemas.openxmlformats.org/officeDocument/2006/relationships/image" Target="../media/image6.jpeg"/></Relationships>
</file>

<file path=ppt/slides/_rels/slide17.xml.rels><?xml version="1.0" encoding="UTF-8" standalone="yes"?>
<Relationships xmlns="http://schemas.openxmlformats.org/package/2006/relationships"><Relationship Id="rId7" Type="http://schemas.openxmlformats.org/officeDocument/2006/relationships/notesSlide" Target="../notesSlides/notesSlide17.xml"/><Relationship Id="rId6" Type="http://schemas.openxmlformats.org/officeDocument/2006/relationships/slideLayout" Target="../slideLayouts/slideLayout12.xml"/><Relationship Id="rId5" Type="http://schemas.openxmlformats.org/officeDocument/2006/relationships/image" Target="../media/image76.jpeg"/><Relationship Id="rId4" Type="http://schemas.openxmlformats.org/officeDocument/2006/relationships/image" Target="../media/image75.jpeg"/><Relationship Id="rId3" Type="http://schemas.openxmlformats.org/officeDocument/2006/relationships/image" Target="../media/image74.jpeg"/><Relationship Id="rId2" Type="http://schemas.openxmlformats.org/officeDocument/2006/relationships/image" Target="../media/image73.png"/><Relationship Id="rId1" Type="http://schemas.openxmlformats.org/officeDocument/2006/relationships/image" Target="../media/image6.jpeg"/></Relationships>
</file>

<file path=ppt/slides/_rels/slide18.xml.rels><?xml version="1.0" encoding="UTF-8" standalone="yes"?>
<Relationships xmlns="http://schemas.openxmlformats.org/package/2006/relationships"><Relationship Id="rId9" Type="http://schemas.openxmlformats.org/officeDocument/2006/relationships/image" Target="../media/image84.jpeg"/><Relationship Id="rId8" Type="http://schemas.openxmlformats.org/officeDocument/2006/relationships/image" Target="../media/image83.jpeg"/><Relationship Id="rId7" Type="http://schemas.openxmlformats.org/officeDocument/2006/relationships/image" Target="../media/image82.jpeg"/><Relationship Id="rId6" Type="http://schemas.openxmlformats.org/officeDocument/2006/relationships/image" Target="../media/image81.jpeg"/><Relationship Id="rId5" Type="http://schemas.openxmlformats.org/officeDocument/2006/relationships/image" Target="../media/image80.jpeg"/><Relationship Id="rId4" Type="http://schemas.openxmlformats.org/officeDocument/2006/relationships/image" Target="../media/image79.jpeg"/><Relationship Id="rId3" Type="http://schemas.openxmlformats.org/officeDocument/2006/relationships/image" Target="../media/image78.jpeg"/><Relationship Id="rId2" Type="http://schemas.openxmlformats.org/officeDocument/2006/relationships/image" Target="../media/image77.jpeg"/><Relationship Id="rId13" Type="http://schemas.openxmlformats.org/officeDocument/2006/relationships/notesSlide" Target="../notesSlides/notesSlide18.xml"/><Relationship Id="rId12" Type="http://schemas.openxmlformats.org/officeDocument/2006/relationships/slideLayout" Target="../slideLayouts/slideLayout12.xml"/><Relationship Id="rId11" Type="http://schemas.openxmlformats.org/officeDocument/2006/relationships/image" Target="../media/image86.png"/><Relationship Id="rId10" Type="http://schemas.openxmlformats.org/officeDocument/2006/relationships/image" Target="../media/image85.jpeg"/><Relationship Id="rId1" Type="http://schemas.openxmlformats.org/officeDocument/2006/relationships/image" Target="../media/image6.jpeg"/></Relationships>
</file>

<file path=ppt/slides/_rels/slide19.xml.rels><?xml version="1.0" encoding="UTF-8" standalone="yes"?>
<Relationships xmlns="http://schemas.openxmlformats.org/package/2006/relationships"><Relationship Id="rId9" Type="http://schemas.openxmlformats.org/officeDocument/2006/relationships/notesSlide" Target="../notesSlides/notesSlide19.xml"/><Relationship Id="rId8" Type="http://schemas.openxmlformats.org/officeDocument/2006/relationships/slideLayout" Target="../slideLayouts/slideLayout12.xml"/><Relationship Id="rId7" Type="http://schemas.openxmlformats.org/officeDocument/2006/relationships/image" Target="../media/image91.svg"/><Relationship Id="rId6" Type="http://schemas.openxmlformats.org/officeDocument/2006/relationships/image" Target="../media/image90.png"/><Relationship Id="rId5" Type="http://schemas.openxmlformats.org/officeDocument/2006/relationships/image" Target="../media/image89.svg"/><Relationship Id="rId4" Type="http://schemas.openxmlformats.org/officeDocument/2006/relationships/image" Target="../media/image88.png"/><Relationship Id="rId3" Type="http://schemas.openxmlformats.org/officeDocument/2006/relationships/image" Target="../media/image10.svg"/><Relationship Id="rId2" Type="http://schemas.openxmlformats.org/officeDocument/2006/relationships/image" Target="../media/image87.png"/><Relationship Id="rId1" Type="http://schemas.openxmlformats.org/officeDocument/2006/relationships/image" Target="../media/image6.jpeg"/></Relationships>
</file>

<file path=ppt/slides/_rels/slide20.xml.rels><?xml version="1.0" encoding="UTF-8" standalone="yes"?>
<Relationships xmlns="http://schemas.openxmlformats.org/package/2006/relationships"><Relationship Id="rId9" Type="http://schemas.openxmlformats.org/officeDocument/2006/relationships/image" Target="../media/image99.svg"/><Relationship Id="rId8" Type="http://schemas.openxmlformats.org/officeDocument/2006/relationships/image" Target="../media/image98.png"/><Relationship Id="rId7" Type="http://schemas.openxmlformats.org/officeDocument/2006/relationships/image" Target="../media/image97.svg"/><Relationship Id="rId6" Type="http://schemas.openxmlformats.org/officeDocument/2006/relationships/image" Target="../media/image96.png"/><Relationship Id="rId5" Type="http://schemas.openxmlformats.org/officeDocument/2006/relationships/image" Target="../media/image95.svg"/><Relationship Id="rId4" Type="http://schemas.openxmlformats.org/officeDocument/2006/relationships/image" Target="../media/image94.png"/><Relationship Id="rId3" Type="http://schemas.openxmlformats.org/officeDocument/2006/relationships/image" Target="../media/image93.svg"/><Relationship Id="rId2" Type="http://schemas.openxmlformats.org/officeDocument/2006/relationships/image" Target="../media/image92.png"/><Relationship Id="rId13" Type="http://schemas.openxmlformats.org/officeDocument/2006/relationships/notesSlide" Target="../notesSlides/notesSlide20.xml"/><Relationship Id="rId12" Type="http://schemas.openxmlformats.org/officeDocument/2006/relationships/slideLayout" Target="../slideLayouts/slideLayout12.xml"/><Relationship Id="rId11" Type="http://schemas.openxmlformats.org/officeDocument/2006/relationships/image" Target="../media/image101.svg"/><Relationship Id="rId10" Type="http://schemas.openxmlformats.org/officeDocument/2006/relationships/image" Target="../media/image100.png"/><Relationship Id="rId1" Type="http://schemas.openxmlformats.org/officeDocument/2006/relationships/image" Target="../media/image6.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2.xml"/><Relationship Id="rId1" Type="http://schemas.openxmlformats.org/officeDocument/2006/relationships/image" Target="../media/image102.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6858000" y="2286000"/>
            <a:ext cx="5080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333333"/>
                </a:solidFill>
                <a:latin typeface="Noto Sans SC"/>
                <a:ea typeface="Noto Sans SC"/>
                <a:cs typeface="Noto Sans SC"/>
                <a:sym typeface="Noto Sans SC"/>
              </a:rPr>
              <a:t>智慧物业管理系统</a:t>
            </a:r>
            <a:endParaRPr lang="en-US" sz="1100"/>
          </a:p>
        </p:txBody>
      </p:sp>
      <p:sp>
        <p:nvSpPr>
          <p:cNvPr id="4" name="AutoShape 4"/>
          <p:cNvSpPr/>
          <p:nvPr/>
        </p:nvSpPr>
        <p:spPr>
          <a:xfrm>
            <a:off x="6858000" y="3683000"/>
            <a:ext cx="4953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2000" b="0" i="0" u="none" strike="noStrike">
                <a:solidFill>
                  <a:srgbClr val="616161"/>
                </a:solidFill>
                <a:latin typeface="Noto Sans SC"/>
                <a:ea typeface="Noto Sans SC"/>
                <a:cs typeface="Noto Sans SC"/>
                <a:sym typeface="Noto Sans SC"/>
              </a:rPr>
              <a:t>基于 Spring Boot + Vue3 的</a:t>
            </a:r>
            <a:br>
              <a:rPr lang="en-US" sz="2000" b="0" i="0" u="none" strike="noStrike">
                <a:solidFill>
                  <a:srgbClr val="616161"/>
                </a:solidFill>
                <a:latin typeface="Noto Sans SC"/>
                <a:ea typeface="Noto Sans SC"/>
                <a:cs typeface="Noto Sans SC"/>
                <a:sym typeface="Noto Sans SC"/>
              </a:rPr>
            </a:br>
            <a:r>
              <a:rPr lang="en-US" sz="2000" b="0" i="0" u="none" strike="noStrike">
                <a:solidFill>
                  <a:srgbClr val="616161"/>
                </a:solidFill>
                <a:latin typeface="Noto Sans SC"/>
                <a:ea typeface="Noto Sans SC"/>
                <a:cs typeface="Noto Sans SC"/>
                <a:sym typeface="Noto Sans SC"/>
              </a:rPr>
              <a:t>全场景数字化社区解决方案</a:t>
            </a:r>
            <a:endParaRPr lang="en-US" sz="1100"/>
          </a:p>
        </p:txBody>
      </p:sp>
      <p:sp>
        <p:nvSpPr>
          <p:cNvPr id="5" name="AutoShape 5"/>
          <p:cNvSpPr/>
          <p:nvPr/>
        </p:nvSpPr>
        <p:spPr>
          <a:xfrm>
            <a:off x="6858000" y="4953000"/>
            <a:ext cx="4953000" cy="1460500"/>
          </a:xfrm>
          <a:prstGeom prst="roundRect">
            <a:avLst>
              <a:gd name="adj" fmla="val 0"/>
            </a:avLst>
          </a:prstGeom>
          <a:solidFill>
            <a:srgbClr val="4CAF50">
              <a:alpha val="8000"/>
            </a:srgbClr>
          </a:solidFill>
          <a:ln w="12700" cap="flat" cmpd="sng">
            <a:solidFill>
              <a:srgbClr val="4CAF50">
                <a:alpha val="2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86600" y="5181600"/>
            <a:ext cx="228600" cy="228600"/>
          </a:xfrm>
          <a:prstGeom prst="rect">
            <a:avLst/>
          </a:prstGeom>
        </p:spPr>
      </p:pic>
      <p:sp>
        <p:nvSpPr>
          <p:cNvPr id="7" name="AutoShape 7"/>
          <p:cNvSpPr/>
          <p:nvPr/>
        </p:nvSpPr>
        <p:spPr>
          <a:xfrm>
            <a:off x="7467600" y="5143500"/>
            <a:ext cx="4318000" cy="646009"/>
          </a:xfrm>
          <a:prstGeom prst="rect">
            <a:avLst/>
          </a:prstGeom>
          <a:noFill/>
          <a:ln w="12700" cap="flat" cmpd="sng">
            <a:noFill/>
            <a:prstDash val="solid"/>
            <a:round/>
          </a:ln>
        </p:spPr>
        <p:txBody>
          <a:bodyPr vert="horz" wrap="square" lIns="0" tIns="0" rIns="0" bIns="0" rtlCol="0" anchor="ctr" anchorCtr="0"/>
          <a:lstStyle/>
          <a:p>
            <a:pPr marL="0" indent="0" algn="l">
              <a:lnSpc>
                <a:spcPct val="155000"/>
              </a:lnSpc>
              <a:defRPr/>
            </a:pPr>
            <a:r>
              <a:rPr lang="en-US" sz="1500" b="1" i="0" u="none" strike="noStrike">
                <a:solidFill>
                  <a:srgbClr val="424242"/>
                </a:solidFill>
                <a:latin typeface="Noto Sans SC"/>
                <a:ea typeface="Noto Sans SC"/>
                <a:cs typeface="Noto Sans SC"/>
                <a:sym typeface="Noto Sans SC"/>
              </a:rPr>
              <a:t>答辩人：</a:t>
            </a:r>
            <a:r>
              <a:rPr lang="zh-CN" altLang="en-US" sz="1500" b="0" i="0" u="none" strike="noStrike">
                <a:solidFill>
                  <a:srgbClr val="424242"/>
                </a:solidFill>
                <a:latin typeface="Noto Sans SC"/>
                <a:ea typeface="Noto Sans SC"/>
                <a:cs typeface="Noto Sans SC"/>
                <a:sym typeface="Noto Sans SC"/>
              </a:rPr>
              <a:t>蒋伊梦    张婷婷   刘梦莹  </a:t>
            </a:r>
            <a:endParaRPr lang="zh-CN" altLang="en-US" sz="1500" b="0" i="0" u="none" strike="noStrike">
              <a:solidFill>
                <a:srgbClr val="424242"/>
              </a:solidFill>
              <a:latin typeface="Noto Sans SC"/>
              <a:ea typeface="Noto Sans SC"/>
              <a:cs typeface="Noto Sans SC"/>
              <a:sym typeface="Noto Sans SC"/>
            </a:endParaRPr>
          </a:p>
          <a:p>
            <a:pPr marL="0" indent="0" algn="l">
              <a:lnSpc>
                <a:spcPct val="155000"/>
              </a:lnSpc>
              <a:defRPr/>
            </a:pPr>
            <a:r>
              <a:rPr lang="zh-CN" altLang="en-US" sz="1500">
                <a:solidFill>
                  <a:srgbClr val="424242"/>
                </a:solidFill>
                <a:latin typeface="Noto Sans SC" charset="0"/>
                <a:ea typeface="Noto Sans SC" charset="0"/>
                <a:cs typeface="Noto Sans SC" charset="0"/>
                <a:sym typeface="Noto Sans SC"/>
              </a:rPr>
              <a:t>                  </a:t>
            </a:r>
            <a:r>
              <a:rPr lang="zh-CN" altLang="en-US" sz="1500" b="0" i="0" u="none" strike="noStrike">
                <a:solidFill>
                  <a:srgbClr val="424242"/>
                </a:solidFill>
                <a:latin typeface="Noto Sans SC"/>
                <a:ea typeface="Noto Sans SC"/>
                <a:cs typeface="Noto Sans SC"/>
                <a:sym typeface="Noto Sans SC"/>
              </a:rPr>
              <a:t>赖虹利    汪琪敏   唐玖英</a:t>
            </a:r>
            <a:endParaRPr lang="en-US" sz="1100"/>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086600" y="5943600"/>
            <a:ext cx="228600" cy="228600"/>
          </a:xfrm>
          <a:prstGeom prst="rect">
            <a:avLst/>
          </a:prstGeom>
        </p:spPr>
      </p:pic>
      <p:sp>
        <p:nvSpPr>
          <p:cNvPr id="11" name="AutoShape 11"/>
          <p:cNvSpPr/>
          <p:nvPr/>
        </p:nvSpPr>
        <p:spPr>
          <a:xfrm>
            <a:off x="7467600" y="5905500"/>
            <a:ext cx="431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424242"/>
                </a:solidFill>
                <a:latin typeface="Noto Sans SC"/>
                <a:ea typeface="Noto Sans SC"/>
                <a:cs typeface="Noto Sans SC"/>
                <a:sym typeface="Noto Sans SC"/>
              </a:rPr>
              <a:t>日期：</a:t>
            </a:r>
            <a:r>
              <a:rPr lang="en-US" sz="1500" b="0" i="0" u="none" strike="noStrike">
                <a:solidFill>
                  <a:srgbClr val="424242"/>
                </a:solidFill>
                <a:latin typeface="Noto Sans SC"/>
                <a:ea typeface="Noto Sans SC"/>
                <a:cs typeface="Noto Sans SC"/>
                <a:sym typeface="Noto Sans SC"/>
              </a:rPr>
              <a:t>2026年07月0</a:t>
            </a:r>
            <a:r>
              <a:rPr lang="en-US" altLang="zh-CN" sz="1500" b="0" i="0" u="none" strike="noStrike">
                <a:solidFill>
                  <a:srgbClr val="424242"/>
                </a:solidFill>
                <a:latin typeface="Noto Sans SC"/>
                <a:ea typeface="Noto Sans SC"/>
                <a:cs typeface="Noto Sans SC"/>
                <a:sym typeface="Noto Sans SC"/>
              </a:rPr>
              <a:t>8</a:t>
            </a:r>
            <a:r>
              <a:rPr lang="en-US" sz="1500" b="0" i="0" u="none" strike="noStrike">
                <a:solidFill>
                  <a:srgbClr val="424242"/>
                </a:solidFill>
                <a:latin typeface="Noto Sans SC"/>
                <a:ea typeface="Noto Sans SC"/>
                <a:cs typeface="Noto Sans SC"/>
                <a:sym typeface="Noto Sans SC"/>
              </a:rPr>
              <a:t>日</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381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a:solidFill>
                  <a:srgbClr val="333333"/>
                </a:solidFill>
              </a:rPr>
              <a:t>团队</a:t>
            </a:r>
            <a:r>
              <a:rPr lang="en-US" sz="3200" b="1">
                <a:solidFill>
                  <a:srgbClr val="333333"/>
                </a:solidFill>
                <a:cs typeface="Arial" panose="020B0604020202020204" pitchFamily="34" charset="0"/>
              </a:rPr>
              <a:t>分工：</a:t>
            </a:r>
            <a:endParaRPr lang="en-US">
              <a:cs typeface="Arial" panose="020B0604020202020204" pitchFamily="34" charset="0"/>
            </a:endParaRPr>
          </a:p>
        </p:txBody>
      </p:sp>
      <p:sp>
        <p:nvSpPr>
          <p:cNvPr id="4" name="AutoShape 4"/>
          <p:cNvSpPr/>
          <p:nvPr/>
        </p:nvSpPr>
        <p:spPr>
          <a:xfrm>
            <a:off x="762000" y="2032000"/>
            <a:ext cx="50800" cy="7620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45" y="1809727"/>
            <a:ext cx="4826000" cy="1396955"/>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333333"/>
                </a:solidFill>
                <a:latin typeface="Noto Sans SC"/>
                <a:ea typeface="Noto Sans SC"/>
                <a:cs typeface="Noto Sans SC"/>
                <a:sym typeface="Noto Sans SC"/>
              </a:rPr>
              <a:t>项目</a:t>
            </a:r>
            <a:r>
              <a:rPr lang="zh-CN" altLang="en-US" sz="2000" b="1" i="0" u="none" strike="noStrike">
                <a:solidFill>
                  <a:srgbClr val="333333"/>
                </a:solidFill>
                <a:latin typeface="Noto Sans SC"/>
                <a:ea typeface="Noto Sans SC"/>
                <a:cs typeface="Noto Sans SC"/>
                <a:sym typeface="Noto Sans SC"/>
              </a:rPr>
              <a:t>组长（</a:t>
            </a:r>
            <a:r>
              <a:rPr lang="zh-CN" altLang="en-US" sz="2000" b="1">
                <a:solidFill>
                  <a:srgbClr val="333333"/>
                </a:solidFill>
                <a:latin typeface="Noto Sans SC" charset="0"/>
                <a:ea typeface="Noto Sans SC" charset="0"/>
                <a:cs typeface="Noto Sans SC" charset="0"/>
                <a:sym typeface="Noto Sans SC"/>
              </a:rPr>
              <a:t>蒋伊梦</a:t>
            </a:r>
            <a:r>
              <a:rPr lang="zh-CN" altLang="en-US" sz="2000" b="1" i="0" u="none" strike="noStrike">
                <a:solidFill>
                  <a:srgbClr val="333333"/>
                </a:solidFill>
                <a:latin typeface="Noto Sans SC"/>
                <a:ea typeface="Noto Sans SC"/>
                <a:cs typeface="Noto Sans SC"/>
                <a:sym typeface="Noto Sans SC"/>
              </a:rPr>
              <a:t>）</a:t>
            </a:r>
            <a:r>
              <a:rPr lang="zh-CN" altLang="en-US" sz="1100">
                <a:solidFill>
                  <a:srgbClr val="000000"/>
                </a:solidFill>
                <a:latin typeface="Arial" panose="020B0604020202020204" pitchFamily="34" charset="0"/>
                <a:ea typeface="Arial" panose="020B0604020202020204" pitchFamily="34" charset="0"/>
                <a:cs typeface="Arial" panose="020B0604020202020204" pitchFamily="34" charset="0"/>
                <a:sym typeface="Noto Sans SC"/>
              </a:rPr>
              <a:t>：</a:t>
            </a:r>
            <a:endParaRPr lang="en-US" altLang="zh-CN" sz="1100">
              <a:solidFill>
                <a:srgbClr val="000000"/>
              </a:solidFill>
              <a:latin typeface="Arial" panose="020B0604020202020204" pitchFamily="34" charset="0"/>
              <a:ea typeface="Arial" panose="020B0604020202020204" pitchFamily="34" charset="0"/>
              <a:cs typeface="Arial" panose="020B0604020202020204" pitchFamily="34" charset="0"/>
              <a:sym typeface="Noto Sans SC"/>
            </a:endParaRPr>
          </a:p>
          <a:p>
            <a:pPr marL="0" indent="0" algn="l">
              <a:lnSpc>
                <a:spcPct val="100000"/>
              </a:lnSpc>
              <a:defRPr/>
            </a:pPr>
            <a:r>
              <a:rPr lang="zh-CN" altLang="en-US">
                <a:latin typeface="Noto Sans SC"/>
                <a:ea typeface="Noto Sans SC"/>
                <a:cs typeface="Noto Sans SC"/>
                <a:sym typeface="Noto Sans SC"/>
              </a:rPr>
              <a:t> 用户管理（增删改查、分页、角色分配）</a:t>
            </a:r>
            <a:endParaRPr lang="zh-CN" altLang="en-US">
              <a:latin typeface="Noto Sans SC"/>
              <a:ea typeface="Noto Sans SC"/>
              <a:cs typeface="Noto Sans SC"/>
              <a:sym typeface="Noto Sans SC"/>
            </a:endParaRPr>
          </a:p>
          <a:p>
            <a:pPr marL="0" indent="0" algn="l">
              <a:lnSpc>
                <a:spcPct val="100000"/>
              </a:lnSpc>
              <a:defRPr/>
            </a:pPr>
            <a:r>
              <a:rPr lang="zh-CN" altLang="en-US">
                <a:latin typeface="Noto Sans SC"/>
                <a:ea typeface="Noto Sans SC"/>
                <a:cs typeface="Noto Sans SC"/>
                <a:sym typeface="Noto Sans SC"/>
              </a:rPr>
              <a:t>角色管理（增删改查、权限配置）</a:t>
            </a:r>
            <a:endParaRPr lang="zh-CN" altLang="en-US">
              <a:latin typeface="Noto Sans SC"/>
              <a:ea typeface="Noto Sans SC"/>
              <a:cs typeface="Noto Sans SC"/>
              <a:sym typeface="Noto Sans SC"/>
            </a:endParaRPr>
          </a:p>
          <a:p>
            <a:pPr marL="0" indent="0" algn="l">
              <a:lnSpc>
                <a:spcPct val="100000"/>
              </a:lnSpc>
              <a:defRPr/>
            </a:pPr>
            <a:r>
              <a:rPr lang="zh-CN" altLang="en-US">
                <a:latin typeface="Noto Sans SC"/>
                <a:ea typeface="Noto Sans SC"/>
                <a:cs typeface="Noto Sans SC"/>
                <a:sym typeface="Noto Sans SC"/>
              </a:rPr>
              <a:t>权限管理（菜单权限、按钮权限）</a:t>
            </a:r>
            <a:endParaRPr lang="zh-CN" altLang="en-US">
              <a:latin typeface="Noto Sans SC"/>
              <a:ea typeface="Noto Sans SC"/>
              <a:cs typeface="Noto Sans SC"/>
              <a:sym typeface="Noto Sans SC"/>
            </a:endParaRPr>
          </a:p>
          <a:p>
            <a:pPr marL="0" indent="0" algn="l">
              <a:lnSpc>
                <a:spcPct val="100000"/>
              </a:lnSpc>
              <a:defRPr/>
            </a:pPr>
            <a:r>
              <a:rPr lang="zh-CN" altLang="en-US">
                <a:latin typeface="Noto Sans SC"/>
                <a:ea typeface="Noto Sans SC"/>
                <a:cs typeface="Noto Sans SC"/>
                <a:sym typeface="Noto Sans SC"/>
              </a:rPr>
              <a:t>登录认证（</a:t>
            </a:r>
            <a:r>
              <a:rPr lang="en-US" altLang="zh-CN">
                <a:latin typeface="Noto Sans SC"/>
                <a:ea typeface="Noto Sans SC"/>
                <a:cs typeface="Noto Sans SC"/>
                <a:sym typeface="Noto Sans SC"/>
              </a:rPr>
              <a:t>JWT Token</a:t>
            </a:r>
            <a:r>
              <a:rPr lang="zh-CN" altLang="en-US">
                <a:latin typeface="Noto Sans SC"/>
                <a:ea typeface="Noto Sans SC"/>
                <a:cs typeface="Noto Sans SC"/>
                <a:sym typeface="Noto Sans SC"/>
              </a:rPr>
              <a:t>）</a:t>
            </a:r>
            <a:endParaRPr lang="zh-CN" altLang="en-US">
              <a:latin typeface="Noto Sans SC"/>
              <a:ea typeface="Noto Sans SC"/>
              <a:cs typeface="Noto Sans SC"/>
              <a:sym typeface="Noto Sans SC"/>
            </a:endParaRPr>
          </a:p>
        </p:txBody>
      </p:sp>
      <p:sp>
        <p:nvSpPr>
          <p:cNvPr id="6" name="AutoShape 6"/>
          <p:cNvSpPr/>
          <p:nvPr/>
        </p:nvSpPr>
        <p:spPr>
          <a:xfrm>
            <a:off x="711200" y="3683045"/>
            <a:ext cx="50800" cy="7620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16000" y="3365500"/>
            <a:ext cx="4826000" cy="1560286"/>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2000" b="1">
                <a:solidFill>
                  <a:srgbClr val="333333"/>
                </a:solidFill>
                <a:latin typeface="Noto Sans SC"/>
                <a:ea typeface="Noto Sans SC"/>
                <a:cs typeface="Noto Sans SC"/>
                <a:sym typeface="Noto Sans SC"/>
              </a:rPr>
              <a:t>前端开发A</a:t>
            </a:r>
            <a:r>
              <a:rPr lang="zh-CN" altLang="en-US" sz="2000" b="1">
                <a:solidFill>
                  <a:srgbClr val="333333"/>
                </a:solidFill>
                <a:latin typeface="Noto Sans SC"/>
                <a:ea typeface="Noto Sans SC"/>
                <a:cs typeface="Noto Sans SC"/>
                <a:sym typeface="Noto Sans SC"/>
              </a:rPr>
              <a:t>（</a:t>
            </a:r>
            <a:r>
              <a:rPr lang="zh-CN" altLang="en-US" sz="2000" b="1">
                <a:solidFill>
                  <a:srgbClr val="333333"/>
                </a:solidFill>
                <a:latin typeface="Noto Sans SC" charset="0"/>
                <a:ea typeface="Noto Sans SC" charset="0"/>
                <a:cs typeface="Noto Sans SC" charset="0"/>
                <a:sym typeface="Noto Sans SC"/>
              </a:rPr>
              <a:t>张婷婷</a:t>
            </a:r>
            <a:r>
              <a:rPr lang="zh-CN" altLang="en-US" sz="2000" b="1">
                <a:solidFill>
                  <a:srgbClr val="333333"/>
                </a:solidFill>
                <a:latin typeface="Noto Sans SC"/>
                <a:ea typeface="Noto Sans SC"/>
                <a:cs typeface="Noto Sans SC"/>
                <a:sym typeface="Noto Sans SC"/>
              </a:rPr>
              <a:t>）</a:t>
            </a:r>
            <a:r>
              <a:rPr lang="zh-CN" altLang="en-US" sz="1100">
                <a:latin typeface="Arial" panose="020B0604020202020204" pitchFamily="34" charset="0"/>
                <a:ea typeface="Arial" panose="020B0604020202020204" pitchFamily="34" charset="0"/>
                <a:cs typeface="Arial" panose="020B0604020202020204" pitchFamily="34" charset="0"/>
                <a:sym typeface="Noto Sans SC"/>
              </a:rPr>
              <a:t>：</a:t>
            </a:r>
            <a:endParaRPr lang="en-US" altLang="zh-CN" sz="1100">
              <a:solidFill>
                <a:srgbClr val="000000"/>
              </a:solidFill>
              <a:latin typeface="Arial" panose="020B0604020202020204" pitchFamily="34" charset="0"/>
              <a:ea typeface="Arial" panose="020B0604020202020204" pitchFamily="34" charset="0"/>
              <a:cs typeface="Arial" panose="020B0604020202020204" pitchFamily="34" charset="0"/>
              <a:sym typeface="Noto Sans SC"/>
            </a:endParaRPr>
          </a:p>
          <a:p>
            <a:pPr marL="0" indent="0" algn="l">
              <a:lnSpc>
                <a:spcPct val="100000"/>
              </a:lnSpc>
              <a:defRPr/>
            </a:pPr>
            <a:r>
              <a:rPr lang="zh-CN" altLang="en-US">
                <a:latin typeface="Noto Sans SC"/>
                <a:ea typeface="Noto Sans SC"/>
                <a:cs typeface="Noto Sans SC"/>
                <a:sym typeface="Noto Sans SC"/>
              </a:rPr>
              <a:t> </a:t>
            </a:r>
            <a:r>
              <a:rPr lang="zh-CN" altLang="en-US">
                <a:solidFill>
                  <a:srgbClr val="000000"/>
                </a:solidFill>
                <a:latin typeface="Noto Sans SC" charset="0"/>
                <a:ea typeface="Noto Sans SC" charset="0"/>
                <a:cs typeface="Noto Sans SC" charset="0"/>
                <a:sym typeface="Noto Sans SC"/>
              </a:rPr>
              <a:t>登录页面</a:t>
            </a:r>
            <a:endParaRPr lang="zh-CN" altLang="en-US">
              <a:solidFill>
                <a:srgbClr val="000000"/>
              </a:solidFill>
              <a:latin typeface="Noto Sans SC" charset="0"/>
              <a:ea typeface="Noto Sans SC" charset="0"/>
              <a:cs typeface="Noto Sans SC" charset="0"/>
              <a:sym typeface="Noto Sans SC"/>
            </a:endParaRPr>
          </a:p>
          <a:p>
            <a:pPr marL="0" indent="0" algn="l">
              <a:lnSpc>
                <a:spcPct val="100000"/>
              </a:lnSpc>
              <a:defRPr/>
            </a:pPr>
            <a:r>
              <a:rPr lang="zh-CN" altLang="en-US">
                <a:solidFill>
                  <a:srgbClr val="000000"/>
                </a:solidFill>
                <a:latin typeface="Noto Sans SC" charset="0"/>
                <a:ea typeface="Noto Sans SC" charset="0"/>
                <a:cs typeface="Noto Sans SC" charset="0"/>
                <a:sym typeface="Noto Sans SC"/>
              </a:rPr>
              <a:t>系统管理页面（用户、角色、权限）</a:t>
            </a:r>
            <a:endParaRPr lang="zh-CN" altLang="en-US">
              <a:solidFill>
                <a:srgbClr val="000000"/>
              </a:solidFill>
              <a:latin typeface="Noto Sans SC" charset="0"/>
              <a:ea typeface="Noto Sans SC" charset="0"/>
              <a:cs typeface="Noto Sans SC" charset="0"/>
              <a:sym typeface="Noto Sans SC"/>
            </a:endParaRPr>
          </a:p>
          <a:p>
            <a:pPr marL="0" indent="0" algn="l">
              <a:lnSpc>
                <a:spcPct val="100000"/>
              </a:lnSpc>
              <a:defRPr/>
            </a:pPr>
            <a:r>
              <a:rPr lang="zh-CN" altLang="en-US">
                <a:solidFill>
                  <a:srgbClr val="000000"/>
                </a:solidFill>
                <a:latin typeface="Noto Sans SC" charset="0"/>
                <a:ea typeface="Noto Sans SC" charset="0"/>
                <a:cs typeface="Noto Sans SC" charset="0"/>
                <a:sym typeface="Noto Sans SC"/>
              </a:rPr>
              <a:t>基础数据页面（小区、楼栋、房屋、业主）</a:t>
            </a:r>
            <a:endParaRPr lang="zh-CN" altLang="en-US">
              <a:solidFill>
                <a:srgbClr val="000000"/>
              </a:solidFill>
              <a:latin typeface="Noto Sans SC" charset="0"/>
              <a:ea typeface="Noto Sans SC" charset="0"/>
              <a:cs typeface="Noto Sans SC" charset="0"/>
              <a:sym typeface="Noto Sans SC"/>
            </a:endParaRPr>
          </a:p>
          <a:p>
            <a:pPr marL="0" indent="0" algn="l">
              <a:lnSpc>
                <a:spcPct val="100000"/>
              </a:lnSpc>
              <a:defRPr/>
            </a:pPr>
            <a:r>
              <a:rPr lang="zh-CN" altLang="en-US">
                <a:solidFill>
                  <a:srgbClr val="000000"/>
                </a:solidFill>
                <a:latin typeface="Noto Sans SC" charset="0"/>
                <a:ea typeface="Noto Sans SC" charset="0"/>
                <a:cs typeface="Noto Sans SC" charset="0"/>
                <a:sym typeface="Noto Sans SC"/>
              </a:rPr>
              <a:t>主布局框架（侧边栏、顶部导航）</a:t>
            </a:r>
            <a:endParaRPr lang="zh-CN" altLang="en-US">
              <a:latin typeface="Noto Sans SC"/>
              <a:ea typeface="Noto Sans SC"/>
              <a:cs typeface="Noto Sans SC"/>
              <a:sym typeface="Noto Sans SC"/>
            </a:endParaRPr>
          </a:p>
        </p:txBody>
      </p:sp>
      <p:sp>
        <p:nvSpPr>
          <p:cNvPr id="8" name="AutoShape 8"/>
          <p:cNvSpPr/>
          <p:nvPr/>
        </p:nvSpPr>
        <p:spPr>
          <a:xfrm>
            <a:off x="762000" y="5329464"/>
            <a:ext cx="50800" cy="7620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16045" y="5075464"/>
            <a:ext cx="4826000" cy="1474107"/>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2000" b="1">
                <a:solidFill>
                  <a:srgbClr val="333333"/>
                </a:solidFill>
                <a:latin typeface="Noto Sans SC"/>
                <a:ea typeface="Noto Sans SC"/>
                <a:cs typeface="Noto Sans SC"/>
                <a:sym typeface="Noto Sans SC"/>
              </a:rPr>
              <a:t>前端开发</a:t>
            </a:r>
            <a:r>
              <a:rPr lang="en-US" altLang="zh-CN" sz="2000" b="1">
                <a:solidFill>
                  <a:srgbClr val="333333"/>
                </a:solidFill>
                <a:latin typeface="Noto Sans SC"/>
                <a:ea typeface="Noto Sans SC"/>
                <a:cs typeface="Noto Sans SC"/>
                <a:sym typeface="Noto Sans SC"/>
              </a:rPr>
              <a:t>B</a:t>
            </a:r>
            <a:r>
              <a:rPr lang="zh-CN" altLang="en-US" sz="2000" b="1">
                <a:solidFill>
                  <a:srgbClr val="333333"/>
                </a:solidFill>
                <a:latin typeface="Noto Sans SC"/>
                <a:ea typeface="Noto Sans SC"/>
                <a:cs typeface="Noto Sans SC"/>
                <a:sym typeface="Noto Sans SC"/>
              </a:rPr>
              <a:t>（刘梦莹）</a:t>
            </a:r>
            <a:r>
              <a:rPr lang="zh-CN" altLang="en-US" sz="1100">
                <a:latin typeface="Arial" panose="020B0604020202020204" pitchFamily="34" charset="0"/>
                <a:ea typeface="Arial" panose="020B0604020202020204" pitchFamily="34" charset="0"/>
                <a:cs typeface="Arial" panose="020B0604020202020204" pitchFamily="34" charset="0"/>
                <a:sym typeface="Noto Sans SC"/>
              </a:rPr>
              <a:t>：</a:t>
            </a:r>
            <a:endParaRPr lang="en-US" altLang="zh-CN" sz="1100">
              <a:solidFill>
                <a:srgbClr val="000000"/>
              </a:solidFill>
              <a:latin typeface="Arial" panose="020B0604020202020204" pitchFamily="34" charset="0"/>
              <a:ea typeface="Arial" panose="020B0604020202020204" pitchFamily="34" charset="0"/>
              <a:cs typeface="Arial" panose="020B0604020202020204" pitchFamily="34" charset="0"/>
              <a:sym typeface="Noto Sans SC"/>
            </a:endParaRPr>
          </a:p>
          <a:p>
            <a:pPr marL="0" indent="0" algn="l">
              <a:lnSpc>
                <a:spcPct val="100000"/>
              </a:lnSpc>
              <a:defRPr/>
            </a:pPr>
            <a:r>
              <a:rPr lang="zh-CN" altLang="en-US">
                <a:latin typeface="Noto Sans SC"/>
                <a:ea typeface="Noto Sans SC"/>
                <a:cs typeface="Noto Sans SC"/>
                <a:sym typeface="Noto Sans SC"/>
              </a:rPr>
              <a:t> </a:t>
            </a:r>
            <a:r>
              <a:rPr lang="zh-CN" altLang="en-US">
                <a:solidFill>
                  <a:srgbClr val="000000"/>
                </a:solidFill>
                <a:latin typeface="Noto Sans SC" charset="0"/>
                <a:ea typeface="Noto Sans SC" charset="0"/>
                <a:cs typeface="Noto Sans SC" charset="0"/>
                <a:sym typeface="Noto Sans SC"/>
              </a:rPr>
              <a:t>报修管理页面</a:t>
            </a:r>
            <a:endParaRPr lang="zh-CN" altLang="en-US">
              <a:solidFill>
                <a:srgbClr val="000000"/>
              </a:solidFill>
              <a:latin typeface="Noto Sans SC" charset="0"/>
              <a:ea typeface="Noto Sans SC" charset="0"/>
              <a:cs typeface="Noto Sans SC" charset="0"/>
              <a:sym typeface="Noto Sans SC"/>
            </a:endParaRPr>
          </a:p>
          <a:p>
            <a:pPr marL="0" indent="0" algn="l">
              <a:lnSpc>
                <a:spcPct val="100000"/>
              </a:lnSpc>
              <a:defRPr/>
            </a:pPr>
            <a:r>
              <a:rPr lang="zh-CN" altLang="en-US">
                <a:solidFill>
                  <a:srgbClr val="000000"/>
                </a:solidFill>
                <a:latin typeface="Noto Sans SC" charset="0"/>
                <a:ea typeface="Noto Sans SC" charset="0"/>
                <a:cs typeface="Noto Sans SC" charset="0"/>
                <a:sym typeface="Noto Sans SC"/>
              </a:rPr>
              <a:t>投诉建议页面</a:t>
            </a:r>
            <a:endParaRPr lang="zh-CN" altLang="en-US">
              <a:solidFill>
                <a:srgbClr val="000000"/>
              </a:solidFill>
              <a:latin typeface="Noto Sans SC" charset="0"/>
              <a:ea typeface="Noto Sans SC" charset="0"/>
              <a:cs typeface="Noto Sans SC" charset="0"/>
              <a:sym typeface="Noto Sans SC"/>
            </a:endParaRPr>
          </a:p>
          <a:p>
            <a:pPr marL="0" indent="0" algn="l">
              <a:lnSpc>
                <a:spcPct val="100000"/>
              </a:lnSpc>
              <a:defRPr/>
            </a:pPr>
            <a:r>
              <a:rPr lang="zh-CN" altLang="en-US">
                <a:solidFill>
                  <a:srgbClr val="000000"/>
                </a:solidFill>
                <a:latin typeface="Noto Sans SC" charset="0"/>
                <a:ea typeface="Noto Sans SC" charset="0"/>
                <a:cs typeface="Noto Sans SC" charset="0"/>
                <a:sym typeface="Noto Sans SC"/>
              </a:rPr>
              <a:t>财务管理页面（账单、缴费）</a:t>
            </a:r>
            <a:endParaRPr lang="zh-CN" altLang="en-US">
              <a:solidFill>
                <a:srgbClr val="000000"/>
              </a:solidFill>
              <a:latin typeface="Noto Sans SC" charset="0"/>
              <a:ea typeface="Noto Sans SC" charset="0"/>
              <a:cs typeface="Noto Sans SC" charset="0"/>
              <a:sym typeface="Noto Sans SC"/>
            </a:endParaRPr>
          </a:p>
          <a:p>
            <a:pPr marL="0" indent="0" algn="l">
              <a:lnSpc>
                <a:spcPct val="100000"/>
              </a:lnSpc>
              <a:defRPr/>
            </a:pPr>
            <a:r>
              <a:rPr lang="zh-CN" altLang="en-US">
                <a:solidFill>
                  <a:srgbClr val="000000"/>
                </a:solidFill>
                <a:latin typeface="Noto Sans SC" charset="0"/>
                <a:ea typeface="Noto Sans SC" charset="0"/>
                <a:cs typeface="Noto Sans SC" charset="0"/>
                <a:sym typeface="Noto Sans SC"/>
              </a:rPr>
              <a:t>数据统计看板</a:t>
            </a:r>
            <a:r>
              <a:rPr lang="zh-CN" altLang="en-US">
                <a:latin typeface="Noto Sans SC" charset="0"/>
                <a:ea typeface="Noto Sans SC" charset="0"/>
                <a:cs typeface="Noto Sans SC" charset="0"/>
                <a:sym typeface="Noto Sans SC"/>
              </a:rPr>
              <a:t>）</a:t>
            </a:r>
            <a:endParaRPr lang="en-US" sz="1400" b="0" i="0" u="none" strike="noStrike">
              <a:solidFill>
                <a:srgbClr val="555555"/>
              </a:solidFill>
              <a:latin typeface="Noto Sans SC"/>
              <a:ea typeface="Noto Sans SC"/>
              <a:cs typeface="Noto Sans SC"/>
              <a:sym typeface="Noto Sans SC"/>
            </a:endParaRPr>
          </a:p>
        </p:txBody>
      </p:sp>
      <p:sp>
        <p:nvSpPr>
          <p:cNvPr id="10" name="AutoShape 10"/>
          <p:cNvSpPr/>
          <p:nvPr/>
        </p:nvSpPr>
        <p:spPr>
          <a:xfrm>
            <a:off x="6567714" y="2031955"/>
            <a:ext cx="50800" cy="7620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0"/>
          <p:cNvSpPr/>
          <p:nvPr/>
        </p:nvSpPr>
        <p:spPr>
          <a:xfrm>
            <a:off x="6567760" y="3683045"/>
            <a:ext cx="50800" cy="7620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0"/>
          <p:cNvSpPr/>
          <p:nvPr/>
        </p:nvSpPr>
        <p:spPr>
          <a:xfrm>
            <a:off x="6567760" y="5329510"/>
            <a:ext cx="50800" cy="7620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5"/>
          <p:cNvSpPr/>
          <p:nvPr/>
        </p:nvSpPr>
        <p:spPr>
          <a:xfrm>
            <a:off x="6844438" y="1809750"/>
            <a:ext cx="4826000" cy="1396955"/>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2000" b="1">
                <a:solidFill>
                  <a:srgbClr val="333333"/>
                </a:solidFill>
                <a:latin typeface="Noto Sans SC"/>
                <a:ea typeface="Noto Sans SC"/>
                <a:cs typeface="Noto Sans SC"/>
                <a:sym typeface="Noto Sans SC"/>
              </a:rPr>
              <a:t>后端开发A</a:t>
            </a:r>
            <a:r>
              <a:rPr lang="zh-CN" altLang="en-US" sz="2000" b="1" i="0" u="none" strike="noStrike">
                <a:solidFill>
                  <a:srgbClr val="333333"/>
                </a:solidFill>
                <a:latin typeface="Noto Sans SC"/>
                <a:ea typeface="Noto Sans SC"/>
                <a:cs typeface="Noto Sans SC"/>
                <a:sym typeface="Noto Sans SC"/>
              </a:rPr>
              <a:t>（</a:t>
            </a:r>
            <a:r>
              <a:rPr lang="zh-CN" altLang="en-US" sz="2000" b="1">
                <a:solidFill>
                  <a:srgbClr val="333333"/>
                </a:solidFill>
                <a:latin typeface="Noto Sans SC" charset="0"/>
                <a:ea typeface="Noto Sans SC" charset="0"/>
                <a:cs typeface="Noto Sans SC" charset="0"/>
                <a:sym typeface="Noto Sans SC"/>
              </a:rPr>
              <a:t>唐玖英</a:t>
            </a:r>
            <a:r>
              <a:rPr lang="zh-CN" altLang="en-US" sz="2000" b="1" i="0" u="none" strike="noStrike">
                <a:solidFill>
                  <a:srgbClr val="333333"/>
                </a:solidFill>
                <a:latin typeface="Noto Sans SC"/>
                <a:ea typeface="Noto Sans SC"/>
                <a:cs typeface="Noto Sans SC"/>
                <a:sym typeface="Noto Sans SC"/>
              </a:rPr>
              <a:t>）</a:t>
            </a:r>
            <a:r>
              <a:rPr lang="zh-CN" altLang="en-US" sz="1100">
                <a:solidFill>
                  <a:srgbClr val="000000"/>
                </a:solidFill>
                <a:latin typeface="Arial" panose="020B0604020202020204" pitchFamily="34" charset="0"/>
                <a:ea typeface="Arial" panose="020B0604020202020204" pitchFamily="34" charset="0"/>
                <a:cs typeface="Arial" panose="020B0604020202020204" pitchFamily="34" charset="0"/>
                <a:sym typeface="Noto Sans SC"/>
              </a:rPr>
              <a:t>：</a:t>
            </a:r>
            <a:endParaRPr lang="en-US" altLang="zh-CN" sz="1100">
              <a:solidFill>
                <a:srgbClr val="000000"/>
              </a:solidFill>
              <a:latin typeface="Arial" panose="020B0604020202020204" pitchFamily="34" charset="0"/>
              <a:ea typeface="Arial" panose="020B0604020202020204" pitchFamily="34" charset="0"/>
              <a:cs typeface="Arial" panose="020B0604020202020204" pitchFamily="34" charset="0"/>
              <a:sym typeface="Noto Sans SC"/>
            </a:endParaRPr>
          </a:p>
          <a:p>
            <a:pPr marL="0" indent="0" algn="l">
              <a:lnSpc>
                <a:spcPct val="100000"/>
              </a:lnSpc>
              <a:defRPr/>
            </a:pPr>
            <a:r>
              <a:rPr lang="zh-CN" altLang="en-US">
                <a:latin typeface="Noto Sans SC"/>
                <a:ea typeface="Noto Sans SC"/>
                <a:cs typeface="Noto Sans SC"/>
                <a:sym typeface="Noto Sans SC"/>
              </a:rPr>
              <a:t> </a:t>
            </a:r>
            <a:r>
              <a:rPr lang="zh-CN" altLang="en-US">
                <a:solidFill>
                  <a:srgbClr val="000000"/>
                </a:solidFill>
                <a:latin typeface="Noto Sans SC" charset="0"/>
                <a:ea typeface="Noto Sans SC" charset="0"/>
                <a:cs typeface="Noto Sans SC" charset="0"/>
                <a:sym typeface="Noto Sans SC"/>
              </a:rPr>
              <a:t>小区管理</a:t>
            </a:r>
            <a:endParaRPr lang="zh-CN" altLang="en-US">
              <a:solidFill>
                <a:srgbClr val="000000"/>
              </a:solidFill>
              <a:latin typeface="Noto Sans SC" charset="0"/>
              <a:ea typeface="Noto Sans SC" charset="0"/>
              <a:cs typeface="Noto Sans SC" charset="0"/>
              <a:sym typeface="Noto Sans SC"/>
            </a:endParaRPr>
          </a:p>
          <a:p>
            <a:pPr marL="0" indent="0" algn="l">
              <a:lnSpc>
                <a:spcPct val="100000"/>
              </a:lnSpc>
              <a:defRPr/>
            </a:pPr>
            <a:r>
              <a:rPr lang="zh-CN" altLang="en-US">
                <a:solidFill>
                  <a:srgbClr val="000000"/>
                </a:solidFill>
                <a:latin typeface="Noto Sans SC" charset="0"/>
                <a:ea typeface="Noto Sans SC" charset="0"/>
                <a:cs typeface="Noto Sans SC" charset="0"/>
                <a:sym typeface="Noto Sans SC"/>
              </a:rPr>
              <a:t>楼栋管理</a:t>
            </a:r>
            <a:endParaRPr lang="zh-CN" altLang="en-US">
              <a:solidFill>
                <a:srgbClr val="000000"/>
              </a:solidFill>
              <a:latin typeface="Noto Sans SC" charset="0"/>
              <a:ea typeface="Noto Sans SC" charset="0"/>
              <a:cs typeface="Noto Sans SC" charset="0"/>
              <a:sym typeface="Noto Sans SC"/>
            </a:endParaRPr>
          </a:p>
          <a:p>
            <a:pPr marL="0" indent="0" algn="l">
              <a:lnSpc>
                <a:spcPct val="100000"/>
              </a:lnSpc>
              <a:defRPr/>
            </a:pPr>
            <a:r>
              <a:rPr lang="zh-CN" altLang="en-US">
                <a:solidFill>
                  <a:srgbClr val="000000"/>
                </a:solidFill>
                <a:latin typeface="Noto Sans SC" charset="0"/>
                <a:ea typeface="Noto Sans SC" charset="0"/>
                <a:cs typeface="Noto Sans SC" charset="0"/>
                <a:sym typeface="Noto Sans SC"/>
              </a:rPr>
              <a:t>房屋管理</a:t>
            </a:r>
            <a:endParaRPr lang="zh-CN" altLang="en-US">
              <a:solidFill>
                <a:srgbClr val="000000"/>
              </a:solidFill>
              <a:latin typeface="Noto Sans SC" charset="0"/>
              <a:ea typeface="Noto Sans SC" charset="0"/>
              <a:cs typeface="Noto Sans SC" charset="0"/>
              <a:sym typeface="Noto Sans SC"/>
            </a:endParaRPr>
          </a:p>
          <a:p>
            <a:pPr marL="0" indent="0" algn="l">
              <a:lnSpc>
                <a:spcPct val="100000"/>
              </a:lnSpc>
              <a:defRPr/>
            </a:pPr>
            <a:r>
              <a:rPr lang="zh-CN" altLang="en-US">
                <a:solidFill>
                  <a:srgbClr val="000000"/>
                </a:solidFill>
                <a:latin typeface="Noto Sans SC" charset="0"/>
                <a:ea typeface="Noto Sans SC" charset="0"/>
                <a:cs typeface="Noto Sans SC" charset="0"/>
                <a:sym typeface="Noto Sans SC"/>
              </a:rPr>
              <a:t>业主管理</a:t>
            </a:r>
            <a:endParaRPr lang="zh-CN" altLang="en-US">
              <a:latin typeface="Noto Sans SC"/>
              <a:ea typeface="Noto Sans SC"/>
              <a:cs typeface="Noto Sans SC"/>
              <a:sym typeface="Noto Sans SC"/>
            </a:endParaRPr>
          </a:p>
        </p:txBody>
      </p:sp>
      <p:sp>
        <p:nvSpPr>
          <p:cNvPr id="19" name="AutoShape 5"/>
          <p:cNvSpPr/>
          <p:nvPr/>
        </p:nvSpPr>
        <p:spPr>
          <a:xfrm>
            <a:off x="6844393" y="3528831"/>
            <a:ext cx="4826000" cy="1396955"/>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2000" b="1">
                <a:solidFill>
                  <a:srgbClr val="333333"/>
                </a:solidFill>
                <a:latin typeface="Noto Sans SC"/>
                <a:ea typeface="Noto Sans SC"/>
                <a:cs typeface="Noto Sans SC"/>
                <a:sym typeface="Noto Sans SC"/>
              </a:rPr>
              <a:t>后端开发B</a:t>
            </a:r>
            <a:r>
              <a:rPr lang="zh-CN" altLang="en-US" sz="2000" b="1" i="0" u="none" strike="noStrike">
                <a:solidFill>
                  <a:srgbClr val="333333"/>
                </a:solidFill>
                <a:latin typeface="Noto Sans SC"/>
                <a:ea typeface="Noto Sans SC"/>
                <a:cs typeface="Noto Sans SC"/>
                <a:sym typeface="Noto Sans SC"/>
              </a:rPr>
              <a:t>（</a:t>
            </a:r>
            <a:r>
              <a:rPr lang="zh-CN" altLang="en-US" sz="2000" b="1">
                <a:solidFill>
                  <a:srgbClr val="333333"/>
                </a:solidFill>
                <a:latin typeface="Noto Sans SC" charset="0"/>
                <a:ea typeface="Noto Sans SC" charset="0"/>
                <a:cs typeface="Noto Sans SC" charset="0"/>
                <a:sym typeface="Noto Sans SC"/>
              </a:rPr>
              <a:t>汪琪敏</a:t>
            </a:r>
            <a:r>
              <a:rPr lang="zh-CN" altLang="en-US" sz="2000" b="1" i="0" u="none" strike="noStrike">
                <a:solidFill>
                  <a:srgbClr val="333333"/>
                </a:solidFill>
                <a:latin typeface="Noto Sans SC"/>
                <a:ea typeface="Noto Sans SC"/>
                <a:cs typeface="Noto Sans SC"/>
                <a:sym typeface="Noto Sans SC"/>
              </a:rPr>
              <a:t>）</a:t>
            </a:r>
            <a:r>
              <a:rPr lang="zh-CN" altLang="en-US" sz="1100">
                <a:solidFill>
                  <a:srgbClr val="000000"/>
                </a:solidFill>
                <a:latin typeface="Arial" panose="020B0604020202020204" pitchFamily="34" charset="0"/>
                <a:ea typeface="Arial" panose="020B0604020202020204" pitchFamily="34" charset="0"/>
                <a:cs typeface="Arial" panose="020B0604020202020204" pitchFamily="34" charset="0"/>
                <a:sym typeface="Noto Sans SC"/>
              </a:rPr>
              <a:t>：</a:t>
            </a:r>
            <a:endParaRPr lang="en-US" altLang="zh-CN" sz="1100">
              <a:solidFill>
                <a:srgbClr val="000000"/>
              </a:solidFill>
              <a:latin typeface="Arial" panose="020B0604020202020204" pitchFamily="34" charset="0"/>
              <a:ea typeface="Arial" panose="020B0604020202020204" pitchFamily="34" charset="0"/>
              <a:cs typeface="Arial" panose="020B0604020202020204" pitchFamily="34" charset="0"/>
              <a:sym typeface="Noto Sans SC"/>
            </a:endParaRPr>
          </a:p>
          <a:p>
            <a:pPr marL="0" indent="0" algn="l">
              <a:lnSpc>
                <a:spcPct val="100000"/>
              </a:lnSpc>
              <a:defRPr/>
            </a:pPr>
            <a:r>
              <a:rPr lang="zh-CN" altLang="en-US">
                <a:solidFill>
                  <a:srgbClr val="000000"/>
                </a:solidFill>
                <a:latin typeface="Noto Sans SC" charset="0"/>
                <a:ea typeface="Noto Sans SC" charset="0"/>
                <a:cs typeface="Noto Sans SC" charset="0"/>
                <a:sym typeface="Noto Sans SC"/>
              </a:rPr>
              <a:t>报修管理（提交、派单、完成、评价）</a:t>
            </a:r>
            <a:endParaRPr lang="zh-CN" altLang="en-US">
              <a:solidFill>
                <a:srgbClr val="000000"/>
              </a:solidFill>
              <a:latin typeface="Noto Sans SC" charset="0"/>
              <a:ea typeface="Noto Sans SC" charset="0"/>
              <a:cs typeface="Noto Sans SC" charset="0"/>
              <a:sym typeface="Noto Sans SC"/>
            </a:endParaRPr>
          </a:p>
          <a:p>
            <a:pPr marL="0" indent="0" algn="l">
              <a:lnSpc>
                <a:spcPct val="100000"/>
              </a:lnSpc>
              <a:defRPr/>
            </a:pPr>
            <a:r>
              <a:rPr lang="zh-CN" altLang="en-US">
                <a:solidFill>
                  <a:srgbClr val="000000"/>
                </a:solidFill>
                <a:latin typeface="Noto Sans SC" charset="0"/>
                <a:ea typeface="Noto Sans SC" charset="0"/>
                <a:cs typeface="Noto Sans SC" charset="0"/>
                <a:sym typeface="Noto Sans SC"/>
              </a:rPr>
              <a:t>投诉建议管理</a:t>
            </a:r>
            <a:endParaRPr lang="zh-CN" altLang="en-US">
              <a:solidFill>
                <a:srgbClr val="000000"/>
              </a:solidFill>
              <a:latin typeface="Noto Sans SC" charset="0"/>
              <a:ea typeface="Noto Sans SC" charset="0"/>
              <a:cs typeface="Noto Sans SC" charset="0"/>
              <a:sym typeface="Noto Sans SC"/>
            </a:endParaRPr>
          </a:p>
          <a:p>
            <a:pPr marL="0" indent="0" algn="l">
              <a:lnSpc>
                <a:spcPct val="100000"/>
              </a:lnSpc>
              <a:defRPr/>
            </a:pPr>
            <a:r>
              <a:rPr lang="zh-CN" altLang="en-US">
                <a:solidFill>
                  <a:srgbClr val="000000"/>
                </a:solidFill>
                <a:latin typeface="Noto Sans SC" charset="0"/>
                <a:ea typeface="Noto Sans SC" charset="0"/>
                <a:cs typeface="Noto Sans SC" charset="0"/>
                <a:sym typeface="Noto Sans SC"/>
              </a:rPr>
              <a:t>财务管理</a:t>
            </a:r>
            <a:endParaRPr lang="zh-CN" altLang="en-US">
              <a:latin typeface="Noto Sans SC"/>
              <a:ea typeface="Noto Sans SC"/>
              <a:cs typeface="Noto Sans SC"/>
              <a:sym typeface="Noto Sans SC"/>
            </a:endParaRPr>
          </a:p>
        </p:txBody>
      </p:sp>
      <p:sp>
        <p:nvSpPr>
          <p:cNvPr id="20" name="AutoShape 5"/>
          <p:cNvSpPr/>
          <p:nvPr/>
        </p:nvSpPr>
        <p:spPr>
          <a:xfrm>
            <a:off x="6844393" y="5152571"/>
            <a:ext cx="4826000" cy="1396955"/>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2000" b="1">
                <a:solidFill>
                  <a:srgbClr val="333333"/>
                </a:solidFill>
                <a:latin typeface="Noto Sans SC"/>
                <a:ea typeface="Noto Sans SC"/>
                <a:cs typeface="Noto Sans SC"/>
                <a:sym typeface="Noto Sans SC"/>
              </a:rPr>
              <a:t>测试</a:t>
            </a:r>
            <a:r>
              <a:rPr lang="en-US" altLang="zh-CN" sz="2000" b="1">
                <a:solidFill>
                  <a:srgbClr val="333333"/>
                </a:solidFill>
                <a:latin typeface="Noto Sans SC"/>
                <a:ea typeface="Noto Sans SC"/>
                <a:cs typeface="Noto Sans SC"/>
                <a:sym typeface="Noto Sans SC"/>
              </a:rPr>
              <a:t>/</a:t>
            </a:r>
            <a:r>
              <a:rPr lang="zh-CN" altLang="en-US" sz="2000" b="1">
                <a:solidFill>
                  <a:srgbClr val="333333"/>
                </a:solidFill>
                <a:latin typeface="Noto Sans SC"/>
                <a:ea typeface="Noto Sans SC"/>
                <a:cs typeface="Noto Sans SC"/>
                <a:sym typeface="Noto Sans SC"/>
              </a:rPr>
              <a:t>文档</a:t>
            </a:r>
            <a:r>
              <a:rPr lang="zh-CN" altLang="en-US" sz="2000" b="1" i="0" u="none" strike="noStrike">
                <a:solidFill>
                  <a:srgbClr val="333333"/>
                </a:solidFill>
                <a:latin typeface="Noto Sans SC"/>
                <a:ea typeface="Noto Sans SC"/>
                <a:cs typeface="Noto Sans SC"/>
                <a:sym typeface="Noto Sans SC"/>
              </a:rPr>
              <a:t>（</a:t>
            </a:r>
            <a:r>
              <a:rPr lang="zh-CN" altLang="en-US" sz="2000" b="1">
                <a:solidFill>
                  <a:srgbClr val="333333"/>
                </a:solidFill>
                <a:latin typeface="Noto Sans SC" charset="0"/>
                <a:ea typeface="Noto Sans SC" charset="0"/>
                <a:cs typeface="Noto Sans SC" charset="0"/>
                <a:sym typeface="Noto Sans SC"/>
              </a:rPr>
              <a:t>赖虹利</a:t>
            </a:r>
            <a:r>
              <a:rPr lang="zh-CN" altLang="en-US" sz="2000" b="1" i="0" u="none" strike="noStrike">
                <a:solidFill>
                  <a:srgbClr val="333333"/>
                </a:solidFill>
                <a:latin typeface="Noto Sans SC"/>
                <a:ea typeface="Noto Sans SC"/>
                <a:cs typeface="Noto Sans SC"/>
                <a:sym typeface="Noto Sans SC"/>
              </a:rPr>
              <a:t>）</a:t>
            </a:r>
            <a:r>
              <a:rPr lang="zh-CN" altLang="en-US" sz="1100">
                <a:solidFill>
                  <a:srgbClr val="000000"/>
                </a:solidFill>
                <a:latin typeface="Arial" panose="020B0604020202020204" pitchFamily="34" charset="0"/>
                <a:ea typeface="Arial" panose="020B0604020202020204" pitchFamily="34" charset="0"/>
                <a:cs typeface="Arial" panose="020B0604020202020204" pitchFamily="34" charset="0"/>
                <a:sym typeface="Noto Sans SC"/>
              </a:rPr>
              <a:t>：</a:t>
            </a:r>
            <a:endParaRPr lang="en-US" altLang="zh-CN" sz="1100">
              <a:solidFill>
                <a:srgbClr val="000000"/>
              </a:solidFill>
              <a:latin typeface="Arial" panose="020B0604020202020204" pitchFamily="34" charset="0"/>
              <a:ea typeface="Arial" panose="020B0604020202020204" pitchFamily="34" charset="0"/>
              <a:cs typeface="Arial" panose="020B0604020202020204" pitchFamily="34" charset="0"/>
              <a:sym typeface="Noto Sans SC"/>
            </a:endParaRPr>
          </a:p>
          <a:p>
            <a:pPr marL="0" indent="0" algn="l">
              <a:lnSpc>
                <a:spcPct val="100000"/>
              </a:lnSpc>
              <a:defRPr/>
            </a:pPr>
            <a:r>
              <a:rPr lang="zh-CN" altLang="en-US">
                <a:latin typeface="Noto Sans SC"/>
                <a:ea typeface="Noto Sans SC"/>
                <a:cs typeface="Noto Sans SC"/>
                <a:sym typeface="Noto Sans SC"/>
              </a:rPr>
              <a:t> </a:t>
            </a:r>
            <a:r>
              <a:rPr lang="zh-CN" altLang="en-US">
                <a:solidFill>
                  <a:srgbClr val="000000"/>
                </a:solidFill>
                <a:latin typeface="Noto Sans SC" charset="0"/>
                <a:ea typeface="Noto Sans SC" charset="0"/>
                <a:cs typeface="Noto Sans SC" charset="0"/>
                <a:sym typeface="Noto Sans SC"/>
              </a:rPr>
              <a:t>编写测试用例</a:t>
            </a:r>
            <a:endParaRPr lang="zh-CN" altLang="en-US">
              <a:solidFill>
                <a:srgbClr val="000000"/>
              </a:solidFill>
              <a:latin typeface="Noto Sans SC" charset="0"/>
              <a:ea typeface="Noto Sans SC" charset="0"/>
              <a:cs typeface="Noto Sans SC" charset="0"/>
              <a:sym typeface="Noto Sans SC"/>
            </a:endParaRPr>
          </a:p>
          <a:p>
            <a:pPr marL="0" indent="0" algn="l">
              <a:lnSpc>
                <a:spcPct val="100000"/>
              </a:lnSpc>
              <a:defRPr/>
            </a:pPr>
            <a:r>
              <a:rPr lang="zh-CN" altLang="en-US">
                <a:solidFill>
                  <a:srgbClr val="000000"/>
                </a:solidFill>
                <a:latin typeface="Noto Sans SC" charset="0"/>
                <a:ea typeface="Noto Sans SC" charset="0"/>
                <a:cs typeface="Noto Sans SC" charset="0"/>
                <a:sym typeface="Noto Sans SC"/>
              </a:rPr>
              <a:t>功能测试并记录Bug</a:t>
            </a:r>
            <a:endParaRPr lang="zh-CN" altLang="en-US">
              <a:solidFill>
                <a:srgbClr val="000000"/>
              </a:solidFill>
              <a:latin typeface="Noto Sans SC" charset="0"/>
              <a:ea typeface="Noto Sans SC" charset="0"/>
              <a:cs typeface="Noto Sans SC" charset="0"/>
              <a:sym typeface="Noto Sans SC"/>
            </a:endParaRPr>
          </a:p>
          <a:p>
            <a:pPr marL="0" indent="0" algn="l">
              <a:lnSpc>
                <a:spcPct val="100000"/>
              </a:lnSpc>
              <a:defRPr/>
            </a:pPr>
            <a:r>
              <a:rPr lang="zh-CN" altLang="en-US">
                <a:solidFill>
                  <a:srgbClr val="000000"/>
                </a:solidFill>
                <a:latin typeface="Noto Sans SC" charset="0"/>
                <a:ea typeface="Noto Sans SC" charset="0"/>
                <a:cs typeface="Noto Sans SC" charset="0"/>
                <a:sym typeface="Noto Sans SC"/>
              </a:rPr>
              <a:t>整理项目文档</a:t>
            </a:r>
            <a:endParaRPr lang="zh-CN" altLang="en-US">
              <a:solidFill>
                <a:srgbClr val="000000"/>
              </a:solidFill>
              <a:latin typeface="Noto Sans SC" charset="0"/>
              <a:ea typeface="Noto Sans SC" charset="0"/>
              <a:cs typeface="Noto Sans SC" charset="0"/>
              <a:sym typeface="Noto Sans SC"/>
            </a:endParaRPr>
          </a:p>
          <a:p>
            <a:pPr marL="0" indent="0" algn="l">
              <a:lnSpc>
                <a:spcPct val="100000"/>
              </a:lnSpc>
              <a:defRPr/>
            </a:pPr>
            <a:r>
              <a:rPr lang="zh-CN" altLang="en-US">
                <a:solidFill>
                  <a:srgbClr val="000000"/>
                </a:solidFill>
                <a:latin typeface="Noto Sans SC" charset="0"/>
                <a:ea typeface="Noto Sans SC" charset="0"/>
                <a:cs typeface="Noto Sans SC" charset="0"/>
                <a:sym typeface="Noto Sans SC"/>
              </a:rPr>
              <a:t>准备答辩材料</a:t>
            </a:r>
            <a:endParaRPr lang="zh-CN" altLang="en-US">
              <a:latin typeface="Noto Sans SC" charset="0"/>
              <a:ea typeface="Noto Sans SC" charset="0"/>
              <a:cs typeface="Noto Sans SC" charset="0"/>
              <a:sym typeface="Noto Sans S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381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目 录</a:t>
            </a:r>
            <a:endParaRPr lang="en-US" sz="1100"/>
          </a:p>
        </p:txBody>
      </p:sp>
      <p:sp>
        <p:nvSpPr>
          <p:cNvPr id="4" name="AutoShape 4"/>
          <p:cNvSpPr/>
          <p:nvPr/>
        </p:nvSpPr>
        <p:spPr>
          <a:xfrm>
            <a:off x="762000" y="2032000"/>
            <a:ext cx="50800" cy="7620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968500"/>
            <a:ext cx="4826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400" b="1" i="0" u="none" strike="noStrike">
                <a:solidFill>
                  <a:srgbClr val="4CAF50"/>
                </a:solidFill>
                <a:latin typeface="Noto Sans SC"/>
                <a:ea typeface="Noto Sans SC"/>
                <a:cs typeface="Noto Sans SC"/>
                <a:sym typeface="Noto Sans SC"/>
              </a:rPr>
              <a:t>01</a:t>
            </a:r>
            <a:r>
              <a:rPr lang="en-US" sz="2000" b="1" i="0" u="none" strike="noStrike">
                <a:solidFill>
                  <a:srgbClr val="333333"/>
                </a:solidFill>
                <a:latin typeface="Noto Sans SC"/>
                <a:ea typeface="Noto Sans SC"/>
                <a:cs typeface="Noto Sans SC"/>
                <a:sym typeface="Noto Sans SC"/>
              </a:rPr>
              <a:t>项目概述</a:t>
            </a:r>
            <a:endParaRPr lang="en-US" sz="1100"/>
          </a:p>
          <a:p>
            <a:pPr marL="0" indent="0" algn="l">
              <a:lnSpc>
                <a:spcPct val="108000"/>
              </a:lnSpc>
            </a:pPr>
            <a:endParaRPr lang="en-US" sz="1400" b="0" i="0" u="none" strike="noStrike">
              <a:solidFill>
                <a:srgbClr val="555555"/>
              </a:solidFill>
              <a:latin typeface="Noto Sans SC"/>
              <a:ea typeface="Noto Sans SC"/>
              <a:cs typeface="Noto Sans SC"/>
              <a:sym typeface="Noto Sans SC"/>
            </a:endParaRPr>
          </a:p>
        </p:txBody>
      </p:sp>
      <p:sp>
        <p:nvSpPr>
          <p:cNvPr id="6" name="AutoShape 6"/>
          <p:cNvSpPr/>
          <p:nvPr/>
        </p:nvSpPr>
        <p:spPr>
          <a:xfrm>
            <a:off x="762000" y="3429000"/>
            <a:ext cx="50800" cy="7620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16000" y="3365500"/>
            <a:ext cx="4826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400" b="1" i="0" u="none" strike="noStrike">
                <a:solidFill>
                  <a:srgbClr val="4CAF50"/>
                </a:solidFill>
                <a:latin typeface="Noto Sans SC"/>
                <a:ea typeface="Noto Sans SC"/>
                <a:cs typeface="Noto Sans SC"/>
                <a:sym typeface="Noto Sans SC"/>
              </a:rPr>
              <a:t>02</a:t>
            </a:r>
            <a:r>
              <a:rPr lang="en-US" sz="2000" b="1" i="0" u="none" strike="noStrike">
                <a:solidFill>
                  <a:srgbClr val="333333"/>
                </a:solidFill>
                <a:latin typeface="Noto Sans SC"/>
                <a:ea typeface="Noto Sans SC"/>
                <a:cs typeface="Noto Sans SC"/>
                <a:sym typeface="Noto Sans SC"/>
              </a:rPr>
              <a:t>系统整体设计</a:t>
            </a:r>
            <a:endParaRPr lang="en-US" sz="1100"/>
          </a:p>
          <a:p>
            <a:pPr marL="0" indent="0" algn="l">
              <a:lnSpc>
                <a:spcPct val="108000"/>
              </a:lnSpc>
            </a:pPr>
            <a:endParaRPr lang="en-US" sz="1400" b="0" i="0" u="none" strike="noStrike">
              <a:solidFill>
                <a:srgbClr val="555555"/>
              </a:solidFill>
              <a:latin typeface="Noto Sans SC"/>
              <a:ea typeface="Noto Sans SC"/>
              <a:cs typeface="Noto Sans SC"/>
              <a:sym typeface="Noto Sans SC"/>
            </a:endParaRPr>
          </a:p>
        </p:txBody>
      </p:sp>
      <p:sp>
        <p:nvSpPr>
          <p:cNvPr id="8" name="AutoShape 8"/>
          <p:cNvSpPr/>
          <p:nvPr/>
        </p:nvSpPr>
        <p:spPr>
          <a:xfrm>
            <a:off x="762000" y="4826000"/>
            <a:ext cx="50800" cy="7620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16000" y="4762500"/>
            <a:ext cx="4826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400" b="1" i="0" u="none" strike="noStrike">
                <a:solidFill>
                  <a:srgbClr val="4CAF50"/>
                </a:solidFill>
                <a:latin typeface="Noto Sans SC"/>
                <a:ea typeface="Noto Sans SC"/>
                <a:cs typeface="Noto Sans SC"/>
                <a:sym typeface="Noto Sans SC"/>
              </a:rPr>
              <a:t>03</a:t>
            </a:r>
            <a:r>
              <a:rPr lang="en-US" sz="2000" b="1" i="0" u="none" strike="noStrike">
                <a:solidFill>
                  <a:srgbClr val="333333"/>
                </a:solidFill>
                <a:latin typeface="Noto Sans SC"/>
                <a:ea typeface="Noto Sans SC"/>
                <a:cs typeface="Noto Sans SC"/>
                <a:sym typeface="Noto Sans SC"/>
              </a:rPr>
              <a:t>手工编码核心成果</a:t>
            </a:r>
            <a:endParaRPr lang="en-US" sz="1100"/>
          </a:p>
          <a:p>
            <a:pPr marL="0" indent="0" algn="l">
              <a:lnSpc>
                <a:spcPct val="108000"/>
              </a:lnSpc>
            </a:pPr>
            <a:endParaRPr lang="en-US" sz="1400" b="0" i="0" u="none" strike="noStrike">
              <a:solidFill>
                <a:srgbClr val="555555"/>
              </a:solidFill>
              <a:latin typeface="Noto Sans SC"/>
              <a:ea typeface="Noto Sans SC"/>
              <a:cs typeface="Noto Sans SC"/>
              <a:sym typeface="Noto Sans SC"/>
            </a:endParaRPr>
          </a:p>
        </p:txBody>
      </p:sp>
      <p:sp>
        <p:nvSpPr>
          <p:cNvPr id="10" name="AutoShape 10"/>
          <p:cNvSpPr/>
          <p:nvPr/>
        </p:nvSpPr>
        <p:spPr>
          <a:xfrm>
            <a:off x="6350000" y="2032000"/>
            <a:ext cx="50800" cy="7620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6604000" y="1968500"/>
            <a:ext cx="4826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400" b="1" i="0" u="none" strike="noStrike">
                <a:solidFill>
                  <a:srgbClr val="4CAF50"/>
                </a:solidFill>
                <a:latin typeface="Noto Sans SC"/>
                <a:ea typeface="Noto Sans SC"/>
                <a:cs typeface="Noto Sans SC"/>
                <a:sym typeface="Noto Sans SC"/>
              </a:rPr>
              <a:t>04</a:t>
            </a:r>
            <a:r>
              <a:rPr lang="en-US" sz="2000" b="1" i="0" u="none" strike="noStrike">
                <a:solidFill>
                  <a:srgbClr val="333333"/>
                </a:solidFill>
                <a:latin typeface="Noto Sans SC"/>
                <a:ea typeface="Noto Sans SC"/>
                <a:cs typeface="Noto Sans SC"/>
                <a:sym typeface="Noto Sans SC"/>
              </a:rPr>
              <a:t>AI辅助开发实践</a:t>
            </a:r>
            <a:endParaRPr lang="en-US" sz="1100"/>
          </a:p>
          <a:p>
            <a:pPr marL="0" indent="0" algn="l">
              <a:lnSpc>
                <a:spcPct val="108000"/>
              </a:lnSpc>
            </a:pPr>
            <a:endParaRPr lang="en-US" sz="1400" b="0" i="0" u="none" strike="noStrike">
              <a:solidFill>
                <a:srgbClr val="555555"/>
              </a:solidFill>
              <a:latin typeface="Noto Sans SC"/>
              <a:ea typeface="Noto Sans SC"/>
              <a:cs typeface="Noto Sans SC"/>
              <a:sym typeface="Noto Sans SC"/>
            </a:endParaRPr>
          </a:p>
        </p:txBody>
      </p:sp>
      <p:sp>
        <p:nvSpPr>
          <p:cNvPr id="12" name="AutoShape 12"/>
          <p:cNvSpPr/>
          <p:nvPr/>
        </p:nvSpPr>
        <p:spPr>
          <a:xfrm>
            <a:off x="6350000" y="3429000"/>
            <a:ext cx="50800" cy="7620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604000" y="3365500"/>
            <a:ext cx="4826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400" b="1" i="0" u="none" strike="noStrike">
                <a:solidFill>
                  <a:srgbClr val="4CAF50"/>
                </a:solidFill>
                <a:latin typeface="Noto Sans SC"/>
                <a:ea typeface="Noto Sans SC"/>
                <a:cs typeface="Noto Sans SC"/>
                <a:sym typeface="Noto Sans SC"/>
              </a:rPr>
              <a:t>05</a:t>
            </a:r>
            <a:r>
              <a:rPr lang="en-US" sz="2000" b="1" i="0" u="none" strike="noStrike">
                <a:solidFill>
                  <a:srgbClr val="333333"/>
                </a:solidFill>
                <a:latin typeface="Noto Sans SC"/>
                <a:ea typeface="Noto Sans SC"/>
                <a:cs typeface="Noto Sans SC"/>
                <a:sym typeface="Noto Sans SC"/>
              </a:rPr>
              <a:t>系统功能Demo演示</a:t>
            </a:r>
            <a:endParaRPr lang="en-US" sz="1100"/>
          </a:p>
          <a:p>
            <a:pPr marL="0" indent="0" algn="l">
              <a:lnSpc>
                <a:spcPct val="108000"/>
              </a:lnSpc>
            </a:pPr>
            <a:endParaRPr lang="en-US" sz="1400" b="0" i="0" u="none" strike="noStrike">
              <a:solidFill>
                <a:srgbClr val="555555"/>
              </a:solidFill>
              <a:latin typeface="Noto Sans SC"/>
              <a:ea typeface="Noto Sans SC"/>
              <a:cs typeface="Noto Sans SC"/>
              <a:sym typeface="Noto Sans SC"/>
            </a:endParaRPr>
          </a:p>
        </p:txBody>
      </p:sp>
      <p:sp>
        <p:nvSpPr>
          <p:cNvPr id="14" name="AutoShape 14"/>
          <p:cNvSpPr/>
          <p:nvPr/>
        </p:nvSpPr>
        <p:spPr>
          <a:xfrm>
            <a:off x="6350000" y="4826000"/>
            <a:ext cx="50800" cy="7620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604000" y="4762500"/>
            <a:ext cx="4826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400" b="1" i="0" u="none" strike="noStrike">
                <a:solidFill>
                  <a:srgbClr val="4CAF50"/>
                </a:solidFill>
                <a:latin typeface="Noto Sans SC"/>
                <a:ea typeface="Noto Sans SC"/>
                <a:cs typeface="Noto Sans SC"/>
                <a:sym typeface="Noto Sans SC"/>
              </a:rPr>
              <a:t>06</a:t>
            </a:r>
            <a:r>
              <a:rPr lang="en-US" sz="2000" b="1" i="0" u="none" strike="noStrike">
                <a:solidFill>
                  <a:srgbClr val="333333"/>
                </a:solidFill>
                <a:latin typeface="Noto Sans SC"/>
                <a:ea typeface="Noto Sans SC"/>
                <a:cs typeface="Noto Sans SC"/>
                <a:sym typeface="Noto Sans SC"/>
              </a:rPr>
              <a:t>实训总结与展望</a:t>
            </a:r>
            <a:endParaRPr lang="en-US" sz="1100"/>
          </a:p>
          <a:p>
            <a:pPr marL="0" indent="0" algn="l">
              <a:lnSpc>
                <a:spcPct val="108000"/>
              </a:lnSpc>
            </a:pPr>
            <a:endParaRPr lang="en-US" sz="1400" b="0" i="0" u="none" strike="noStrike">
              <a:solidFill>
                <a:srgbClr val="555555"/>
              </a:solidFill>
              <a:latin typeface="Noto Sans SC"/>
              <a:ea typeface="Noto Sans SC"/>
              <a:cs typeface="Noto Sans SC"/>
              <a:sym typeface="Noto Sans SC"/>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01 项目概述</a:t>
            </a:r>
            <a:r>
              <a:rPr lang="zh-CN" altLang="en-US" sz="3200" b="1" i="0" u="none" strike="noStrike">
                <a:solidFill>
                  <a:srgbClr val="333333"/>
                </a:solidFill>
                <a:latin typeface="Noto Sans SC"/>
                <a:ea typeface="Noto Sans SC"/>
                <a:cs typeface="Noto Sans SC"/>
                <a:sym typeface="Noto Sans SC"/>
              </a:rPr>
              <a:t>：行业背景与目标</a:t>
            </a:r>
            <a:endParaRPr lang="en-US" sz="1100"/>
          </a:p>
        </p:txBody>
      </p:sp>
      <p:sp>
        <p:nvSpPr>
          <p:cNvPr id="4" name="AutoShape 4"/>
          <p:cNvSpPr/>
          <p:nvPr/>
        </p:nvSpPr>
        <p:spPr>
          <a:xfrm>
            <a:off x="762000" y="2286000"/>
            <a:ext cx="3378200" cy="3048000"/>
          </a:xfrm>
          <a:prstGeom prst="roundRect">
            <a:avLst>
              <a:gd name="adj" fmla="val 0"/>
            </a:avLst>
          </a:prstGeom>
          <a:solidFill>
            <a:srgbClr val="FFFFFF">
              <a:alpha val="50000"/>
            </a:srgbClr>
          </a:solidFill>
          <a:ln w="12700" cap="flat" cmpd="sng">
            <a:solidFill>
              <a:srgbClr val="4CAF50">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2286000"/>
            <a:ext cx="3378200" cy="508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603500"/>
            <a:ext cx="457200" cy="457200"/>
          </a:xfrm>
          <a:prstGeom prst="rect">
            <a:avLst/>
          </a:prstGeom>
        </p:spPr>
      </p:pic>
      <p:sp>
        <p:nvSpPr>
          <p:cNvPr id="7" name="AutoShape 7"/>
          <p:cNvSpPr/>
          <p:nvPr/>
        </p:nvSpPr>
        <p:spPr>
          <a:xfrm>
            <a:off x="1600200" y="26416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800" b="1">
                <a:solidFill>
                  <a:srgbClr val="333333"/>
                </a:solidFill>
              </a:rPr>
              <a:t>项目</a:t>
            </a:r>
            <a:r>
              <a:rPr lang="en-US" sz="1800" b="1">
                <a:solidFill>
                  <a:srgbClr val="333333"/>
                </a:solidFill>
              </a:rPr>
              <a:t>背景</a:t>
            </a:r>
            <a:endParaRPr lang="en-US"/>
          </a:p>
        </p:txBody>
      </p:sp>
      <p:cxnSp>
        <p:nvCxnSpPr>
          <p:cNvPr id="8" name="Connector 8"/>
          <p:cNvCxnSpPr/>
          <p:nvPr/>
        </p:nvCxnSpPr>
        <p:spPr>
          <a:xfrm rot="-15211">
            <a:off x="1016014" y="3232150"/>
            <a:ext cx="2870200" cy="12700"/>
          </a:xfrm>
          <a:prstGeom prst="straightConnector1">
            <a:avLst/>
          </a:prstGeom>
          <a:solidFill>
            <a:srgbClr val="DEE0E3">
              <a:alpha val="100000"/>
            </a:srgbClr>
          </a:solidFill>
          <a:ln w="12700" cap="flat" cmpd="sng">
            <a:solidFill>
              <a:srgbClr val="4CAF50">
                <a:alpha val="20000"/>
              </a:srgbClr>
            </a:solidFill>
            <a:prstDash val="solid"/>
            <a:round/>
            <a:headEnd type="none" w="med" len="med"/>
            <a:tailEnd type="none" w="med" len="med"/>
          </a:ln>
        </p:spPr>
      </p:cxnSp>
      <p:sp>
        <p:nvSpPr>
          <p:cNvPr id="9" name="AutoShape 9"/>
          <p:cNvSpPr/>
          <p:nvPr/>
        </p:nvSpPr>
        <p:spPr>
          <a:xfrm>
            <a:off x="1016000" y="3429000"/>
            <a:ext cx="28702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a:solidFill>
                  <a:srgbClr val="555555"/>
                </a:solidFill>
              </a:rPr>
              <a:t>  城市化进程加快，住宅小区数量持续增长</a:t>
            </a:r>
            <a:endParaRPr lang="en-US" altLang="en-US">
              <a:solidFill>
                <a:srgbClr val="555555"/>
              </a:solidFill>
            </a:endParaRPr>
          </a:p>
          <a:p>
            <a:pPr marL="0" indent="0" algn="l">
              <a:lnSpc>
                <a:spcPct val="117000"/>
              </a:lnSpc>
              <a:defRPr/>
            </a:pPr>
            <a:r>
              <a:rPr lang="zh-CN" altLang="en-US">
                <a:solidFill>
                  <a:srgbClr val="555555"/>
                </a:solidFill>
              </a:rPr>
              <a:t>  传统物业管理效率低、服务响应慢、信息不透明</a:t>
            </a:r>
            <a:endParaRPr lang="en-US" altLang="en-US">
              <a:solidFill>
                <a:srgbClr val="555555"/>
              </a:solidFill>
            </a:endParaRPr>
          </a:p>
          <a:p>
            <a:pPr marL="0" indent="0" algn="l">
              <a:lnSpc>
                <a:spcPct val="117000"/>
              </a:lnSpc>
              <a:defRPr/>
            </a:pPr>
            <a:r>
              <a:rPr lang="zh-CN" altLang="en-US">
                <a:solidFill>
                  <a:srgbClr val="555555"/>
                </a:solidFill>
              </a:rPr>
              <a:t>  数字化转型成为物业行业升级的必然趋势</a:t>
            </a:r>
            <a:endParaRPr lang="en-US" sz="1100"/>
          </a:p>
        </p:txBody>
      </p:sp>
      <p:sp>
        <p:nvSpPr>
          <p:cNvPr id="10" name="AutoShape 10"/>
          <p:cNvSpPr/>
          <p:nvPr/>
        </p:nvSpPr>
        <p:spPr>
          <a:xfrm>
            <a:off x="4394200" y="2286000"/>
            <a:ext cx="3378200" cy="3048000"/>
          </a:xfrm>
          <a:prstGeom prst="roundRect">
            <a:avLst>
              <a:gd name="adj" fmla="val 0"/>
            </a:avLst>
          </a:prstGeom>
          <a:solidFill>
            <a:srgbClr val="FFFFFF">
              <a:alpha val="50000"/>
            </a:srgbClr>
          </a:solidFill>
          <a:ln w="12700" cap="flat" cmpd="sng">
            <a:solidFill>
              <a:srgbClr val="4CAF50">
                <a:alpha val="3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4394200" y="2286000"/>
            <a:ext cx="3378200" cy="508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48200" y="2603500"/>
            <a:ext cx="457200" cy="457200"/>
          </a:xfrm>
          <a:prstGeom prst="rect">
            <a:avLst/>
          </a:prstGeom>
        </p:spPr>
      </p:pic>
      <p:sp>
        <p:nvSpPr>
          <p:cNvPr id="13" name="AutoShape 13"/>
          <p:cNvSpPr/>
          <p:nvPr/>
        </p:nvSpPr>
        <p:spPr>
          <a:xfrm>
            <a:off x="5232400" y="26416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800" b="1">
                <a:solidFill>
                  <a:srgbClr val="333333"/>
                </a:solidFill>
              </a:rPr>
              <a:t>项目目标</a:t>
            </a:r>
            <a:endParaRPr lang="en-US" sz="1100"/>
          </a:p>
        </p:txBody>
      </p:sp>
      <p:cxnSp>
        <p:nvCxnSpPr>
          <p:cNvPr id="14" name="Connector 14"/>
          <p:cNvCxnSpPr/>
          <p:nvPr/>
        </p:nvCxnSpPr>
        <p:spPr>
          <a:xfrm rot="-15211">
            <a:off x="4648214" y="3232150"/>
            <a:ext cx="2870200" cy="12700"/>
          </a:xfrm>
          <a:prstGeom prst="straightConnector1">
            <a:avLst/>
          </a:prstGeom>
          <a:solidFill>
            <a:srgbClr val="DEE0E3">
              <a:alpha val="100000"/>
            </a:srgbClr>
          </a:solidFill>
          <a:ln w="12700" cap="flat" cmpd="sng">
            <a:solidFill>
              <a:srgbClr val="4CAF50">
                <a:alpha val="20000"/>
              </a:srgbClr>
            </a:solidFill>
            <a:prstDash val="solid"/>
            <a:round/>
            <a:headEnd type="none" w="med" len="med"/>
            <a:tailEnd type="none" w="med" len="med"/>
          </a:ln>
        </p:spPr>
      </p:cxnSp>
      <p:sp>
        <p:nvSpPr>
          <p:cNvPr id="15" name="AutoShape 15"/>
          <p:cNvSpPr/>
          <p:nvPr/>
        </p:nvSpPr>
        <p:spPr>
          <a:xfrm>
            <a:off x="4648200" y="3429000"/>
            <a:ext cx="2870200" cy="1545966"/>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a:solidFill>
                  <a:srgbClr val="555555"/>
                </a:solidFill>
                <a:latin typeface="Noto Sans SC"/>
                <a:ea typeface="Noto Sans SC"/>
                <a:cs typeface="Noto Sans SC"/>
                <a:sym typeface="Noto Sans SC"/>
              </a:rPr>
              <a:t>业主与物业公司之间的高效信息互通</a:t>
            </a:r>
            <a:endParaRPr lang="en-US" altLang="en-US">
              <a:solidFill>
                <a:srgbClr val="555555"/>
              </a:solidFill>
              <a:latin typeface="Noto Sans SC"/>
              <a:ea typeface="Noto Sans SC"/>
              <a:cs typeface="Noto Sans SC"/>
              <a:sym typeface="Noto Sans SC"/>
            </a:endParaRPr>
          </a:p>
          <a:p>
            <a:pPr marL="0" indent="0" algn="l">
              <a:lnSpc>
                <a:spcPct val="117000"/>
              </a:lnSpc>
              <a:defRPr/>
            </a:pPr>
            <a:r>
              <a:rPr lang="zh-CN" altLang="en-US">
                <a:solidFill>
                  <a:srgbClr val="555555"/>
                </a:solidFill>
                <a:latin typeface="Noto Sans SC"/>
                <a:ea typeface="Noto Sans SC"/>
                <a:cs typeface="Noto Sans SC"/>
                <a:sym typeface="Noto Sans SC"/>
              </a:rPr>
              <a:t>报修、投诉等物业服务的线上化流转</a:t>
            </a:r>
            <a:endParaRPr lang="zh-CN" altLang="en-US">
              <a:solidFill>
                <a:srgbClr val="555555"/>
              </a:solidFill>
              <a:latin typeface="Noto Sans SC"/>
              <a:ea typeface="Noto Sans SC"/>
              <a:cs typeface="Noto Sans SC"/>
              <a:sym typeface="Noto Sans SC"/>
            </a:endParaRPr>
          </a:p>
          <a:p>
            <a:pPr marL="0" indent="0" algn="l">
              <a:lnSpc>
                <a:spcPct val="117000"/>
              </a:lnSpc>
              <a:defRPr/>
            </a:pPr>
            <a:endParaRPr lang="en-US" altLang="en-US">
              <a:solidFill>
                <a:srgbClr val="555555"/>
              </a:solidFill>
              <a:latin typeface="Noto Sans SC"/>
              <a:ea typeface="Noto Sans SC"/>
              <a:cs typeface="Noto Sans SC"/>
              <a:sym typeface="Noto Sans SC"/>
            </a:endParaRPr>
          </a:p>
          <a:p>
            <a:pPr marL="0" indent="0" algn="l">
              <a:lnSpc>
                <a:spcPct val="117000"/>
              </a:lnSpc>
              <a:defRPr/>
            </a:pPr>
            <a:r>
              <a:rPr lang="zh-CN" altLang="en-US">
                <a:solidFill>
                  <a:srgbClr val="555555"/>
                </a:solidFill>
                <a:latin typeface="Noto Sans SC"/>
                <a:ea typeface="Noto Sans SC"/>
                <a:cs typeface="Noto Sans SC"/>
                <a:sym typeface="Noto Sans SC"/>
              </a:rPr>
              <a:t>财务账单的数字化管理</a:t>
            </a:r>
            <a:endParaRPr lang="zh-CN" altLang="en-US">
              <a:solidFill>
                <a:srgbClr val="555555"/>
              </a:solidFill>
              <a:latin typeface="Noto Sans SC"/>
              <a:ea typeface="Noto Sans SC"/>
              <a:cs typeface="Noto Sans SC"/>
              <a:sym typeface="Noto Sans SC"/>
            </a:endParaRPr>
          </a:p>
          <a:p>
            <a:pPr marL="0" indent="0" algn="l">
              <a:lnSpc>
                <a:spcPct val="117000"/>
              </a:lnSpc>
              <a:defRPr/>
            </a:pPr>
            <a:endParaRPr lang="en-US" altLang="en-US">
              <a:solidFill>
                <a:srgbClr val="555555"/>
              </a:solidFill>
              <a:latin typeface="Noto Sans SC"/>
              <a:ea typeface="Noto Sans SC"/>
              <a:cs typeface="Noto Sans SC"/>
              <a:sym typeface="Noto Sans SC"/>
            </a:endParaRPr>
          </a:p>
          <a:p>
            <a:pPr marL="0" indent="0" algn="l">
              <a:lnSpc>
                <a:spcPct val="117000"/>
              </a:lnSpc>
              <a:defRPr/>
            </a:pPr>
            <a:r>
              <a:rPr lang="zh-CN" altLang="en-US">
                <a:solidFill>
                  <a:srgbClr val="555555"/>
                </a:solidFill>
                <a:latin typeface="Noto Sans SC"/>
                <a:ea typeface="Noto Sans SC"/>
                <a:cs typeface="Noto Sans SC"/>
                <a:sym typeface="Noto Sans SC"/>
              </a:rPr>
              <a:t>小区基础数据的统一维护</a:t>
            </a:r>
            <a:endParaRPr lang="zh-CN" altLang="en-US" sz="1400" b="0" i="0" u="none" strike="noStrike">
              <a:solidFill>
                <a:srgbClr val="555555"/>
              </a:solidFill>
              <a:latin typeface="Noto Sans SC"/>
              <a:ea typeface="Noto Sans SC"/>
              <a:cs typeface="Noto Sans SC"/>
              <a:sym typeface="Noto Sans SC"/>
            </a:endParaRPr>
          </a:p>
        </p:txBody>
      </p:sp>
      <p:sp>
        <p:nvSpPr>
          <p:cNvPr id="16" name="AutoShape 16"/>
          <p:cNvSpPr/>
          <p:nvPr/>
        </p:nvSpPr>
        <p:spPr>
          <a:xfrm>
            <a:off x="8026400" y="2286000"/>
            <a:ext cx="3378200" cy="3048000"/>
          </a:xfrm>
          <a:prstGeom prst="roundRect">
            <a:avLst>
              <a:gd name="adj" fmla="val 0"/>
            </a:avLst>
          </a:prstGeom>
          <a:solidFill>
            <a:srgbClr val="FFFFFF">
              <a:alpha val="50000"/>
            </a:srgbClr>
          </a:solidFill>
          <a:ln w="12700" cap="flat" cmpd="sng">
            <a:solidFill>
              <a:srgbClr val="4CAF50">
                <a:alpha val="3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8026400" y="2286000"/>
            <a:ext cx="3378200" cy="508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80400" y="2603500"/>
            <a:ext cx="457200" cy="457200"/>
          </a:xfrm>
          <a:prstGeom prst="rect">
            <a:avLst/>
          </a:prstGeom>
        </p:spPr>
      </p:pic>
      <p:sp>
        <p:nvSpPr>
          <p:cNvPr id="19" name="AutoShape 19"/>
          <p:cNvSpPr/>
          <p:nvPr/>
        </p:nvSpPr>
        <p:spPr>
          <a:xfrm>
            <a:off x="8864600" y="2641600"/>
            <a:ext cx="2413000" cy="381000"/>
          </a:xfrm>
          <a:prstGeom prst="rect">
            <a:avLst/>
          </a:prstGeom>
          <a:noFill/>
          <a:ln w="12700" cap="flat" cmpd="sng">
            <a:noFill/>
            <a:prstDash val="solid"/>
            <a:round/>
          </a:ln>
        </p:spPr>
        <p:txBody>
          <a:bodyPr vert="horz" wrap="square" lIns="0" tIns="0" rIns="0" bIns="0" rtlCol="0" anchor="ctr" anchorCtr="0"/>
          <a:lstStyle/>
          <a:p>
            <a:pPr marL="0" marR="0" lvl="0" indent="0" algn="l" rtl="0">
              <a:lnSpc>
                <a:spcPct val="125000"/>
              </a:lnSpc>
              <a:spcBef>
                <a:spcPts val="0"/>
              </a:spcBef>
              <a:spcAft>
                <a:spcPts val="0"/>
              </a:spcAft>
              <a:buClr>
                <a:srgbClr val="000000"/>
              </a:buClr>
              <a:buNone/>
            </a:pPr>
            <a:r>
              <a:rPr lang="zh-CN" altLang="en-US" sz="1800" b="1">
                <a:solidFill>
                  <a:srgbClr val="333333"/>
                </a:solidFill>
                <a:latin typeface="Arial" panose="020B0604020202020204" pitchFamily="34" charset="0"/>
                <a:ea typeface="Arial" panose="020B0604020202020204" pitchFamily="34" charset="0"/>
                <a:cs typeface="Arial" panose="020B0604020202020204" pitchFamily="34" charset="0"/>
              </a:rPr>
              <a:t>实训目标</a:t>
            </a:r>
            <a:endParaRPr lang="zh-CN" altLang="en-US" sz="1800" b="1">
              <a:solidFill>
                <a:srgbClr val="333333"/>
              </a:solidFill>
              <a:latin typeface="Arial" panose="020B0604020202020204" pitchFamily="34" charset="0"/>
              <a:ea typeface="Arial" panose="020B0604020202020204" pitchFamily="34" charset="0"/>
              <a:cs typeface="Arial" panose="020B0604020202020204" pitchFamily="34" charset="0"/>
            </a:endParaRPr>
          </a:p>
        </p:txBody>
      </p:sp>
      <p:cxnSp>
        <p:nvCxnSpPr>
          <p:cNvPr id="20" name="Connector 20"/>
          <p:cNvCxnSpPr/>
          <p:nvPr/>
        </p:nvCxnSpPr>
        <p:spPr>
          <a:xfrm rot="-15211">
            <a:off x="8280414" y="3232150"/>
            <a:ext cx="2870200" cy="12700"/>
          </a:xfrm>
          <a:prstGeom prst="straightConnector1">
            <a:avLst/>
          </a:prstGeom>
          <a:solidFill>
            <a:srgbClr val="DEE0E3">
              <a:alpha val="100000"/>
            </a:srgbClr>
          </a:solidFill>
          <a:ln w="12700" cap="flat" cmpd="sng">
            <a:solidFill>
              <a:srgbClr val="4CAF50">
                <a:alpha val="20000"/>
              </a:srgbClr>
            </a:solidFill>
            <a:prstDash val="solid"/>
            <a:round/>
            <a:headEnd type="none" w="med" len="med"/>
            <a:tailEnd type="none" w="med" len="med"/>
          </a:ln>
        </p:spPr>
      </p:cxnSp>
      <p:sp>
        <p:nvSpPr>
          <p:cNvPr id="21" name="AutoShape 21"/>
          <p:cNvSpPr/>
          <p:nvPr/>
        </p:nvSpPr>
        <p:spPr>
          <a:xfrm>
            <a:off x="8280400" y="3429000"/>
            <a:ext cx="28702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a:solidFill>
                  <a:srgbClr val="555555"/>
                </a:solidFill>
              </a:rPr>
              <a:t>前期</a:t>
            </a:r>
            <a:r>
              <a:rPr lang="en-US" altLang="en-US">
                <a:solidFill>
                  <a:srgbClr val="555555"/>
                </a:solidFill>
              </a:rPr>
              <a:t>	</a:t>
            </a:r>
            <a:r>
              <a:rPr lang="zh-CN" altLang="en-US">
                <a:solidFill>
                  <a:srgbClr val="555555"/>
                </a:solidFill>
              </a:rPr>
              <a:t>第</a:t>
            </a:r>
            <a:r>
              <a:rPr lang="en-US" altLang="zh-CN">
                <a:solidFill>
                  <a:srgbClr val="555555"/>
                </a:solidFill>
              </a:rPr>
              <a:t>1</a:t>
            </a:r>
            <a:r>
              <a:rPr lang="zh-CN" altLang="en-US">
                <a:solidFill>
                  <a:srgbClr val="555555"/>
                </a:solidFill>
              </a:rPr>
              <a:t>-</a:t>
            </a:r>
            <a:r>
              <a:rPr lang="en-US" altLang="zh-CN">
                <a:solidFill>
                  <a:srgbClr val="555555"/>
                </a:solidFill>
              </a:rPr>
              <a:t>5</a:t>
            </a:r>
            <a:r>
              <a:rPr lang="zh-CN" altLang="en-US">
                <a:solidFill>
                  <a:srgbClr val="555555"/>
                </a:solidFill>
              </a:rPr>
              <a:t>天</a:t>
            </a:r>
            <a:r>
              <a:rPr lang="en-US" altLang="en-US">
                <a:solidFill>
                  <a:srgbClr val="555555"/>
                </a:solidFill>
              </a:rPr>
              <a:t>	</a:t>
            </a:r>
            <a:r>
              <a:rPr lang="zh-CN" altLang="en-US">
                <a:solidFill>
                  <a:srgbClr val="555555"/>
                </a:solidFill>
              </a:rPr>
              <a:t>手工编码</a:t>
            </a:r>
            <a:r>
              <a:rPr lang="en-US" altLang="en-US">
                <a:solidFill>
                  <a:srgbClr val="555555"/>
                </a:solidFill>
              </a:rPr>
              <a:t>	</a:t>
            </a:r>
            <a:r>
              <a:rPr lang="zh-CN" altLang="en-US">
                <a:solidFill>
                  <a:srgbClr val="555555"/>
                </a:solidFill>
              </a:rPr>
              <a:t>重点：夯实基础、理解架构、独立解决问题</a:t>
            </a:r>
            <a:endParaRPr lang="zh-CN" altLang="en-US">
              <a:solidFill>
                <a:srgbClr val="555555"/>
              </a:solidFill>
            </a:endParaRPr>
          </a:p>
          <a:p>
            <a:pPr marL="0" indent="0" algn="l">
              <a:lnSpc>
                <a:spcPct val="117000"/>
              </a:lnSpc>
              <a:defRPr/>
            </a:pPr>
            <a:endParaRPr lang="zh-CN" altLang="en-US">
              <a:solidFill>
                <a:srgbClr val="555555"/>
              </a:solidFill>
            </a:endParaRPr>
          </a:p>
          <a:p>
            <a:pPr marL="0" indent="0" algn="l">
              <a:lnSpc>
                <a:spcPct val="117000"/>
              </a:lnSpc>
              <a:defRPr/>
            </a:pPr>
            <a:r>
              <a:rPr lang="zh-CN" altLang="en-US">
                <a:solidFill>
                  <a:srgbClr val="555555"/>
                </a:solidFill>
              </a:rPr>
              <a:t>后期</a:t>
            </a:r>
            <a:r>
              <a:rPr lang="en-US" altLang="en-US">
                <a:solidFill>
                  <a:srgbClr val="555555"/>
                </a:solidFill>
              </a:rPr>
              <a:t>	</a:t>
            </a:r>
            <a:r>
              <a:rPr lang="zh-CN" altLang="en-US">
                <a:solidFill>
                  <a:srgbClr val="555555"/>
                </a:solidFill>
              </a:rPr>
              <a:t>第</a:t>
            </a:r>
            <a:r>
              <a:rPr lang="en-US" altLang="zh-CN">
                <a:solidFill>
                  <a:srgbClr val="555555"/>
                </a:solidFill>
              </a:rPr>
              <a:t>6</a:t>
            </a:r>
            <a:r>
              <a:rPr lang="zh-CN" altLang="en-US">
                <a:solidFill>
                  <a:srgbClr val="555555"/>
                </a:solidFill>
              </a:rPr>
              <a:t>天</a:t>
            </a:r>
            <a:r>
              <a:rPr lang="en-US" altLang="en-US">
                <a:solidFill>
                  <a:srgbClr val="555555"/>
                </a:solidFill>
              </a:rPr>
              <a:t>	</a:t>
            </a:r>
            <a:r>
              <a:rPr lang="en-US" altLang="zh-CN">
                <a:solidFill>
                  <a:srgbClr val="555555"/>
                </a:solidFill>
              </a:rPr>
              <a:t>AI</a:t>
            </a:r>
            <a:r>
              <a:rPr lang="zh-CN" altLang="en-US">
                <a:solidFill>
                  <a:srgbClr val="555555"/>
                </a:solidFill>
              </a:rPr>
              <a:t>辅助开发</a:t>
            </a:r>
            <a:r>
              <a:rPr lang="en-US" altLang="en-US">
                <a:solidFill>
                  <a:srgbClr val="555555"/>
                </a:solidFill>
              </a:rPr>
              <a:t>	</a:t>
            </a:r>
            <a:r>
              <a:rPr lang="zh-CN" altLang="en-US">
                <a:solidFill>
                  <a:srgbClr val="555555"/>
                </a:solidFill>
              </a:rPr>
              <a:t>重点：提效增速、学习</a:t>
            </a:r>
            <a:r>
              <a:rPr lang="en-US" altLang="zh-CN">
                <a:solidFill>
                  <a:srgbClr val="555555"/>
                </a:solidFill>
              </a:rPr>
              <a:t>AI</a:t>
            </a:r>
            <a:r>
              <a:rPr lang="zh-CN" altLang="en-US">
                <a:solidFill>
                  <a:srgbClr val="555555"/>
                </a:solidFill>
              </a:rPr>
              <a:t>工具使用、代码优化</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01 项目概述</a:t>
            </a:r>
            <a:r>
              <a:rPr lang="zh-CN" altLang="en-US" sz="3200" b="1" i="0" u="none" strike="noStrike">
                <a:solidFill>
                  <a:srgbClr val="333333"/>
                </a:solidFill>
                <a:latin typeface="Noto Sans SC"/>
                <a:ea typeface="Noto Sans SC"/>
                <a:cs typeface="Noto Sans SC"/>
                <a:sym typeface="Noto Sans SC"/>
              </a:rPr>
              <a:t>：业务功能与技术选型</a:t>
            </a:r>
            <a:endParaRPr lang="zh-CN" altLang="en-US" sz="3200" b="1" i="0" u="none" strike="noStrike">
              <a:solidFill>
                <a:srgbClr val="333333"/>
              </a:solidFill>
              <a:latin typeface="Noto Sans SC"/>
              <a:ea typeface="Noto Sans SC"/>
              <a:cs typeface="Noto Sans SC"/>
              <a:sym typeface="Noto Sans SC"/>
            </a:endParaRPr>
          </a:p>
        </p:txBody>
      </p:sp>
      <p:sp>
        <p:nvSpPr>
          <p:cNvPr id="4" name="AutoShape 4"/>
          <p:cNvSpPr/>
          <p:nvPr/>
        </p:nvSpPr>
        <p:spPr>
          <a:xfrm>
            <a:off x="762077" y="2286000"/>
            <a:ext cx="3378123" cy="3775245"/>
          </a:xfrm>
          <a:prstGeom prst="roundRect">
            <a:avLst>
              <a:gd name="adj" fmla="val 0"/>
            </a:avLst>
          </a:prstGeom>
          <a:solidFill>
            <a:srgbClr val="FFFFFF">
              <a:alpha val="50000"/>
            </a:srgbClr>
          </a:solidFill>
          <a:ln w="12700" cap="flat" cmpd="sng">
            <a:solidFill>
              <a:srgbClr val="4CAF50">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2286000"/>
            <a:ext cx="3378200" cy="508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603500"/>
            <a:ext cx="457200" cy="457200"/>
          </a:xfrm>
          <a:prstGeom prst="rect">
            <a:avLst/>
          </a:prstGeom>
        </p:spPr>
      </p:pic>
      <p:sp>
        <p:nvSpPr>
          <p:cNvPr id="7" name="AutoShape 7"/>
          <p:cNvSpPr/>
          <p:nvPr/>
        </p:nvSpPr>
        <p:spPr>
          <a:xfrm>
            <a:off x="1600200" y="26416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a:solidFill>
                  <a:srgbClr val="333333"/>
                </a:solidFill>
              </a:rPr>
              <a:t>核心业务功能</a:t>
            </a:r>
            <a:endParaRPr lang="en-US"/>
          </a:p>
        </p:txBody>
      </p:sp>
      <p:cxnSp>
        <p:nvCxnSpPr>
          <p:cNvPr id="8" name="Connector 8"/>
          <p:cNvCxnSpPr/>
          <p:nvPr/>
        </p:nvCxnSpPr>
        <p:spPr>
          <a:xfrm rot="-15211">
            <a:off x="1016014" y="3232150"/>
            <a:ext cx="2870200" cy="12700"/>
          </a:xfrm>
          <a:prstGeom prst="straightConnector1">
            <a:avLst/>
          </a:prstGeom>
          <a:solidFill>
            <a:srgbClr val="DEE0E3">
              <a:alpha val="100000"/>
            </a:srgbClr>
          </a:solidFill>
          <a:ln w="12700" cap="flat" cmpd="sng">
            <a:solidFill>
              <a:srgbClr val="4CAF50">
                <a:alpha val="20000"/>
              </a:srgbClr>
            </a:solidFill>
            <a:prstDash val="solid"/>
            <a:round/>
            <a:headEnd type="none" w="med" len="med"/>
            <a:tailEnd type="none" w="med" len="med"/>
          </a:ln>
        </p:spPr>
      </p:cxnSp>
      <p:sp>
        <p:nvSpPr>
          <p:cNvPr id="9" name="AutoShape 9"/>
          <p:cNvSpPr/>
          <p:nvPr/>
        </p:nvSpPr>
        <p:spPr>
          <a:xfrm>
            <a:off x="1016000" y="3225716"/>
            <a:ext cx="2870200" cy="2644111"/>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altLang="zh-CN">
                <a:solidFill>
                  <a:srgbClr val="555555"/>
                </a:solidFill>
              </a:rPr>
              <a:t>1.</a:t>
            </a:r>
            <a:r>
              <a:rPr lang="zh-CN" altLang="en-US">
                <a:solidFill>
                  <a:srgbClr val="555555"/>
                </a:solidFill>
              </a:rPr>
              <a:t> 系统管理：用户管理、角色管理、权限控制、</a:t>
            </a:r>
            <a:r>
              <a:rPr lang="en-US" altLang="zh-CN">
                <a:solidFill>
                  <a:srgbClr val="555555"/>
                </a:solidFill>
              </a:rPr>
              <a:t>JWT</a:t>
            </a:r>
            <a:r>
              <a:rPr lang="zh-CN" altLang="en-US">
                <a:solidFill>
                  <a:srgbClr val="555555"/>
                </a:solidFill>
              </a:rPr>
              <a:t>登录认证 </a:t>
            </a:r>
            <a:endParaRPr lang="zh-CN" altLang="en-US">
              <a:solidFill>
                <a:srgbClr val="555555"/>
              </a:solidFill>
            </a:endParaRPr>
          </a:p>
          <a:p>
            <a:pPr marL="0" indent="0" algn="l">
              <a:lnSpc>
                <a:spcPct val="117000"/>
              </a:lnSpc>
              <a:defRPr/>
            </a:pPr>
            <a:r>
              <a:rPr lang="en-US" altLang="zh-CN">
                <a:solidFill>
                  <a:srgbClr val="555555"/>
                </a:solidFill>
                <a:latin typeface="Arial" panose="020B0604020202020204" pitchFamily="34" charset="0"/>
                <a:ea typeface="Arial" panose="020B0604020202020204" pitchFamily="34" charset="0"/>
                <a:cs typeface="Arial" panose="020B0604020202020204" pitchFamily="34" charset="0"/>
              </a:rPr>
              <a:t>2. </a:t>
            </a:r>
            <a:r>
              <a:rPr lang="zh-CN" altLang="en-US">
                <a:solidFill>
                  <a:srgbClr val="555555"/>
                </a:solidFill>
                <a:latin typeface="Arial" panose="020B0604020202020204" pitchFamily="34" charset="0"/>
                <a:ea typeface="Arial" panose="020B0604020202020204" pitchFamily="34" charset="0"/>
                <a:cs typeface="Arial" panose="020B0604020202020204" pitchFamily="34" charset="0"/>
              </a:rPr>
              <a:t>基础数据：小区管理、楼栋管理、房屋管理、业主管理</a:t>
            </a:r>
            <a:endParaRPr lang="zh-CN" altLang="en-US">
              <a:solidFill>
                <a:srgbClr val="555555"/>
              </a:solidFill>
              <a:latin typeface="Arial" panose="020B0604020202020204" pitchFamily="34" charset="0"/>
              <a:ea typeface="Arial" panose="020B0604020202020204" pitchFamily="34" charset="0"/>
              <a:cs typeface="Arial" panose="020B0604020202020204" pitchFamily="34" charset="0"/>
            </a:endParaRPr>
          </a:p>
          <a:p>
            <a:pPr marL="0" marR="0" lvl="0" indent="0" algn="l" rtl="0">
              <a:lnSpc>
                <a:spcPct val="117000"/>
              </a:lnSpc>
              <a:spcBef>
                <a:spcPts val="0"/>
              </a:spcBef>
              <a:spcAft>
                <a:spcPts val="0"/>
              </a:spcAft>
              <a:buClr>
                <a:srgbClr val="000000"/>
              </a:buClr>
              <a:buNone/>
            </a:pPr>
            <a:r>
              <a:rPr lang="en-US" altLang="zh-CN">
                <a:solidFill>
                  <a:srgbClr val="555555"/>
                </a:solidFill>
                <a:latin typeface="Arial" panose="020B0604020202020204" pitchFamily="34" charset="0"/>
                <a:ea typeface="Arial" panose="020B0604020202020204" pitchFamily="34" charset="0"/>
                <a:cs typeface="Arial" panose="020B0604020202020204" pitchFamily="34" charset="0"/>
              </a:rPr>
              <a:t>3. </a:t>
            </a:r>
            <a:r>
              <a:rPr lang="zh-CN" altLang="en-US">
                <a:solidFill>
                  <a:srgbClr val="555555"/>
                </a:solidFill>
                <a:latin typeface="Arial" panose="020B0604020202020204" pitchFamily="34" charset="0"/>
                <a:ea typeface="Arial" panose="020B0604020202020204" pitchFamily="34" charset="0"/>
                <a:cs typeface="Arial" panose="020B0604020202020204" pitchFamily="34" charset="0"/>
              </a:rPr>
              <a:t>物业服务：报修提交</a:t>
            </a:r>
            <a:r>
              <a:rPr lang="en-US" altLang="zh-CN">
                <a:solidFill>
                  <a:srgbClr val="555555"/>
                </a:solidFill>
                <a:latin typeface="Arial" panose="020B0604020202020204" pitchFamily="34" charset="0"/>
                <a:ea typeface="Arial" panose="020B0604020202020204" pitchFamily="34" charset="0"/>
                <a:cs typeface="Arial" panose="020B0604020202020204" pitchFamily="34" charset="0"/>
              </a:rPr>
              <a:t>/</a:t>
            </a:r>
            <a:r>
              <a:rPr lang="zh-CN" altLang="en-US">
                <a:solidFill>
                  <a:srgbClr val="555555"/>
                </a:solidFill>
                <a:latin typeface="Arial" panose="020B0604020202020204" pitchFamily="34" charset="0"/>
                <a:ea typeface="Arial" panose="020B0604020202020204" pitchFamily="34" charset="0"/>
                <a:cs typeface="Arial" panose="020B0604020202020204" pitchFamily="34" charset="0"/>
              </a:rPr>
              <a:t>派单</a:t>
            </a:r>
            <a:r>
              <a:rPr lang="en-US" altLang="zh-CN">
                <a:solidFill>
                  <a:srgbClr val="555555"/>
                </a:solidFill>
                <a:latin typeface="Arial" panose="020B0604020202020204" pitchFamily="34" charset="0"/>
                <a:ea typeface="Arial" panose="020B0604020202020204" pitchFamily="34" charset="0"/>
                <a:cs typeface="Arial" panose="020B0604020202020204" pitchFamily="34" charset="0"/>
              </a:rPr>
              <a:t>/</a:t>
            </a:r>
            <a:r>
              <a:rPr lang="zh-CN" altLang="en-US">
                <a:solidFill>
                  <a:srgbClr val="555555"/>
                </a:solidFill>
                <a:latin typeface="Arial" panose="020B0604020202020204" pitchFamily="34" charset="0"/>
                <a:ea typeface="Arial" panose="020B0604020202020204" pitchFamily="34" charset="0"/>
                <a:cs typeface="Arial" panose="020B0604020202020204" pitchFamily="34" charset="0"/>
              </a:rPr>
              <a:t>完成</a:t>
            </a:r>
            <a:r>
              <a:rPr lang="en-US" altLang="zh-CN">
                <a:solidFill>
                  <a:srgbClr val="555555"/>
                </a:solidFill>
                <a:latin typeface="Arial" panose="020B0604020202020204" pitchFamily="34" charset="0"/>
                <a:ea typeface="Arial" panose="020B0604020202020204" pitchFamily="34" charset="0"/>
                <a:cs typeface="Arial" panose="020B0604020202020204" pitchFamily="34" charset="0"/>
              </a:rPr>
              <a:t>/</a:t>
            </a:r>
            <a:r>
              <a:rPr lang="zh-CN" altLang="en-US">
                <a:solidFill>
                  <a:srgbClr val="555555"/>
                </a:solidFill>
                <a:latin typeface="Arial" panose="020B0604020202020204" pitchFamily="34" charset="0"/>
                <a:ea typeface="Arial" panose="020B0604020202020204" pitchFamily="34" charset="0"/>
                <a:cs typeface="Arial" panose="020B0604020202020204" pitchFamily="34" charset="0"/>
              </a:rPr>
              <a:t>评价、投诉建议提交</a:t>
            </a:r>
            <a:r>
              <a:rPr lang="en-US" altLang="zh-CN">
                <a:solidFill>
                  <a:srgbClr val="555555"/>
                </a:solidFill>
                <a:latin typeface="Arial" panose="020B0604020202020204" pitchFamily="34" charset="0"/>
                <a:ea typeface="Arial" panose="020B0604020202020204" pitchFamily="34" charset="0"/>
                <a:cs typeface="Arial" panose="020B0604020202020204" pitchFamily="34" charset="0"/>
              </a:rPr>
              <a:t>/</a:t>
            </a:r>
            <a:r>
              <a:rPr lang="zh-CN" altLang="en-US">
                <a:solidFill>
                  <a:srgbClr val="555555"/>
                </a:solidFill>
                <a:latin typeface="Arial" panose="020B0604020202020204" pitchFamily="34" charset="0"/>
                <a:ea typeface="Arial" panose="020B0604020202020204" pitchFamily="34" charset="0"/>
                <a:cs typeface="Arial" panose="020B0604020202020204" pitchFamily="34" charset="0"/>
              </a:rPr>
              <a:t>处理</a:t>
            </a:r>
            <a:r>
              <a:rPr lang="en-US" altLang="zh-CN">
                <a:solidFill>
                  <a:srgbClr val="555555"/>
                </a:solidFill>
                <a:latin typeface="Arial" panose="020B0604020202020204" pitchFamily="34" charset="0"/>
                <a:ea typeface="Arial" panose="020B0604020202020204" pitchFamily="34" charset="0"/>
                <a:cs typeface="Arial" panose="020B0604020202020204" pitchFamily="34" charset="0"/>
              </a:rPr>
              <a:t>/</a:t>
            </a:r>
            <a:r>
              <a:rPr lang="zh-CN" altLang="en-US">
                <a:solidFill>
                  <a:srgbClr val="555555"/>
                </a:solidFill>
                <a:latin typeface="Arial" panose="020B0604020202020204" pitchFamily="34" charset="0"/>
                <a:ea typeface="Arial" panose="020B0604020202020204" pitchFamily="34" charset="0"/>
                <a:cs typeface="Arial" panose="020B0604020202020204" pitchFamily="34" charset="0"/>
              </a:rPr>
              <a:t>回复</a:t>
            </a:r>
            <a:endParaRPr lang="zh-CN" altLang="en-US">
              <a:solidFill>
                <a:srgbClr val="555555"/>
              </a:solidFill>
              <a:latin typeface="Arial" panose="020B0604020202020204" pitchFamily="34" charset="0"/>
              <a:ea typeface="Arial" panose="020B0604020202020204" pitchFamily="34" charset="0"/>
              <a:cs typeface="Arial" panose="020B0604020202020204" pitchFamily="34" charset="0"/>
            </a:endParaRPr>
          </a:p>
          <a:p>
            <a:pPr marL="0" marR="0" lvl="0" indent="0" algn="l" rtl="0">
              <a:lnSpc>
                <a:spcPct val="117000"/>
              </a:lnSpc>
              <a:spcBef>
                <a:spcPts val="0"/>
              </a:spcBef>
              <a:spcAft>
                <a:spcPts val="0"/>
              </a:spcAft>
              <a:buClr>
                <a:srgbClr val="000000"/>
              </a:buClr>
              <a:buNone/>
            </a:pPr>
            <a:r>
              <a:rPr lang="en-US" altLang="zh-CN">
                <a:solidFill>
                  <a:srgbClr val="555555"/>
                </a:solidFill>
                <a:latin typeface="Arial" panose="020B0604020202020204" pitchFamily="34" charset="0"/>
                <a:ea typeface="Arial" panose="020B0604020202020204" pitchFamily="34" charset="0"/>
                <a:cs typeface="Arial" panose="020B0604020202020204" pitchFamily="34" charset="0"/>
              </a:rPr>
              <a:t>4. </a:t>
            </a:r>
            <a:r>
              <a:rPr lang="zh-CN" altLang="en-US">
                <a:solidFill>
                  <a:srgbClr val="555555"/>
                </a:solidFill>
                <a:latin typeface="Arial" panose="020B0604020202020204" pitchFamily="34" charset="0"/>
                <a:ea typeface="Arial" panose="020B0604020202020204" pitchFamily="34" charset="0"/>
                <a:cs typeface="Arial" panose="020B0604020202020204" pitchFamily="34" charset="0"/>
              </a:rPr>
              <a:t>财务管理：费用项目管理、账单生成、账单查询、缴费登记</a:t>
            </a:r>
            <a:endParaRPr lang="zh-CN" altLang="en-US">
              <a:solidFill>
                <a:srgbClr val="555555"/>
              </a:solidFill>
              <a:latin typeface="Arial" panose="020B0604020202020204" pitchFamily="34" charset="0"/>
              <a:ea typeface="Arial" panose="020B0604020202020204" pitchFamily="34" charset="0"/>
              <a:cs typeface="Arial" panose="020B0604020202020204" pitchFamily="34" charset="0"/>
            </a:endParaRPr>
          </a:p>
          <a:p>
            <a:pPr marL="0" marR="0" lvl="0" indent="0" algn="l" rtl="0">
              <a:lnSpc>
                <a:spcPct val="117000"/>
              </a:lnSpc>
              <a:spcBef>
                <a:spcPts val="0"/>
              </a:spcBef>
              <a:spcAft>
                <a:spcPts val="0"/>
              </a:spcAft>
              <a:buClr>
                <a:srgbClr val="000000"/>
              </a:buClr>
              <a:buNone/>
            </a:pPr>
            <a:r>
              <a:rPr lang="en-US" altLang="zh-CN">
                <a:solidFill>
                  <a:srgbClr val="555555"/>
                </a:solidFill>
                <a:latin typeface="Arial" panose="020B0604020202020204" pitchFamily="34" charset="0"/>
                <a:ea typeface="Arial" panose="020B0604020202020204" pitchFamily="34" charset="0"/>
                <a:cs typeface="Arial" panose="020B0604020202020204" pitchFamily="34" charset="0"/>
              </a:rPr>
              <a:t>5. </a:t>
            </a:r>
            <a:r>
              <a:rPr lang="zh-CN" altLang="en-US">
                <a:solidFill>
                  <a:srgbClr val="555555"/>
                </a:solidFill>
                <a:latin typeface="Arial" panose="020B0604020202020204" pitchFamily="34" charset="0"/>
                <a:ea typeface="Arial" panose="020B0604020202020204" pitchFamily="34" charset="0"/>
                <a:cs typeface="Arial" panose="020B0604020202020204" pitchFamily="34" charset="0"/>
              </a:rPr>
              <a:t>数据统计：综合数据看板（户数</a:t>
            </a:r>
            <a:r>
              <a:rPr lang="en-US" altLang="zh-CN">
                <a:solidFill>
                  <a:srgbClr val="555555"/>
                </a:solidFill>
                <a:latin typeface="Arial" panose="020B0604020202020204" pitchFamily="34" charset="0"/>
                <a:ea typeface="Arial" panose="020B0604020202020204" pitchFamily="34" charset="0"/>
                <a:cs typeface="Arial" panose="020B0604020202020204" pitchFamily="34" charset="0"/>
              </a:rPr>
              <a:t>/</a:t>
            </a:r>
            <a:r>
              <a:rPr lang="zh-CN" altLang="en-US">
                <a:solidFill>
                  <a:srgbClr val="555555"/>
                </a:solidFill>
                <a:latin typeface="Arial" panose="020B0604020202020204" pitchFamily="34" charset="0"/>
                <a:ea typeface="Arial" panose="020B0604020202020204" pitchFamily="34" charset="0"/>
                <a:cs typeface="Arial" panose="020B0604020202020204" pitchFamily="34" charset="0"/>
              </a:rPr>
              <a:t>入住率</a:t>
            </a:r>
            <a:r>
              <a:rPr lang="en-US" altLang="zh-CN">
                <a:solidFill>
                  <a:srgbClr val="555555"/>
                </a:solidFill>
                <a:latin typeface="Arial" panose="020B0604020202020204" pitchFamily="34" charset="0"/>
                <a:ea typeface="Arial" panose="020B0604020202020204" pitchFamily="34" charset="0"/>
                <a:cs typeface="Arial" panose="020B0604020202020204" pitchFamily="34" charset="0"/>
              </a:rPr>
              <a:t>/</a:t>
            </a:r>
            <a:r>
              <a:rPr lang="zh-CN" altLang="en-US">
                <a:solidFill>
                  <a:srgbClr val="555555"/>
                </a:solidFill>
                <a:latin typeface="Arial" panose="020B0604020202020204" pitchFamily="34" charset="0"/>
                <a:ea typeface="Arial" panose="020B0604020202020204" pitchFamily="34" charset="0"/>
                <a:cs typeface="Arial" panose="020B0604020202020204" pitchFamily="34" charset="0"/>
              </a:rPr>
              <a:t>缴费率</a:t>
            </a:r>
            <a:r>
              <a:rPr lang="en-US" altLang="zh-CN">
                <a:solidFill>
                  <a:srgbClr val="555555"/>
                </a:solidFill>
                <a:latin typeface="Arial" panose="020B0604020202020204" pitchFamily="34" charset="0"/>
                <a:ea typeface="Arial" panose="020B0604020202020204" pitchFamily="34" charset="0"/>
                <a:cs typeface="Arial" panose="020B0604020202020204" pitchFamily="34" charset="0"/>
              </a:rPr>
              <a:t>/</a:t>
            </a:r>
            <a:r>
              <a:rPr lang="zh-CN" altLang="en-US">
                <a:solidFill>
                  <a:srgbClr val="555555"/>
                </a:solidFill>
                <a:latin typeface="Arial" panose="020B0604020202020204" pitchFamily="34" charset="0"/>
                <a:ea typeface="Arial" panose="020B0604020202020204" pitchFamily="34" charset="0"/>
                <a:cs typeface="Arial" panose="020B0604020202020204" pitchFamily="34" charset="0"/>
              </a:rPr>
              <a:t>报修统计图表）</a:t>
            </a:r>
            <a:endParaRPr lang="zh-CN" altLang="en-US">
              <a:solidFill>
                <a:srgbClr val="555555"/>
              </a:solidFill>
              <a:latin typeface="Arial" panose="020B0604020202020204" pitchFamily="34" charset="0"/>
              <a:ea typeface="Arial" panose="020B0604020202020204" pitchFamily="34" charset="0"/>
              <a:cs typeface="Arial" panose="020B0604020202020204" pitchFamily="34" charset="0"/>
            </a:endParaRPr>
          </a:p>
        </p:txBody>
      </p:sp>
      <p:sp>
        <p:nvSpPr>
          <p:cNvPr id="10" name="AutoShape 10"/>
          <p:cNvSpPr/>
          <p:nvPr/>
        </p:nvSpPr>
        <p:spPr>
          <a:xfrm>
            <a:off x="4394284" y="2286000"/>
            <a:ext cx="3378116" cy="3775207"/>
          </a:xfrm>
          <a:prstGeom prst="roundRect">
            <a:avLst>
              <a:gd name="adj" fmla="val 0"/>
            </a:avLst>
          </a:prstGeom>
          <a:solidFill>
            <a:srgbClr val="FFFFFF">
              <a:alpha val="50000"/>
            </a:srgbClr>
          </a:solidFill>
          <a:ln w="12700" cap="flat" cmpd="sng">
            <a:solidFill>
              <a:srgbClr val="4CAF50">
                <a:alpha val="3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4394200" y="2286000"/>
            <a:ext cx="3378200" cy="508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48200" y="2603500"/>
            <a:ext cx="457200" cy="457200"/>
          </a:xfrm>
          <a:prstGeom prst="rect">
            <a:avLst/>
          </a:prstGeom>
        </p:spPr>
      </p:pic>
      <p:sp>
        <p:nvSpPr>
          <p:cNvPr id="13" name="AutoShape 13"/>
          <p:cNvSpPr/>
          <p:nvPr/>
        </p:nvSpPr>
        <p:spPr>
          <a:xfrm>
            <a:off x="5232400" y="26416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800" b="1">
                <a:solidFill>
                  <a:srgbClr val="333333"/>
                </a:solidFill>
              </a:rPr>
              <a:t>完整</a:t>
            </a:r>
            <a:r>
              <a:rPr lang="zh-CN" altLang="en-US" sz="1800" b="1">
                <a:solidFill>
                  <a:srgbClr val="333333"/>
                </a:solidFill>
                <a:cs typeface="Arial" panose="020B0604020202020204" pitchFamily="34" charset="0"/>
              </a:rPr>
              <a:t>技术选型</a:t>
            </a:r>
            <a:endParaRPr lang="en-US" sz="1100"/>
          </a:p>
        </p:txBody>
      </p:sp>
      <p:cxnSp>
        <p:nvCxnSpPr>
          <p:cNvPr id="14" name="Connector 14"/>
          <p:cNvCxnSpPr/>
          <p:nvPr/>
        </p:nvCxnSpPr>
        <p:spPr>
          <a:xfrm rot="-15211">
            <a:off x="4648214" y="3232150"/>
            <a:ext cx="2870200" cy="12700"/>
          </a:xfrm>
          <a:prstGeom prst="straightConnector1">
            <a:avLst/>
          </a:prstGeom>
          <a:solidFill>
            <a:srgbClr val="DEE0E3">
              <a:alpha val="100000"/>
            </a:srgbClr>
          </a:solidFill>
          <a:ln w="12700" cap="flat" cmpd="sng">
            <a:solidFill>
              <a:srgbClr val="4CAF50">
                <a:alpha val="20000"/>
              </a:srgbClr>
            </a:solidFill>
            <a:prstDash val="solid"/>
            <a:round/>
            <a:headEnd type="none" w="med" len="med"/>
            <a:tailEnd type="none" w="med" len="med"/>
          </a:ln>
        </p:spPr>
      </p:cxnSp>
      <p:sp>
        <p:nvSpPr>
          <p:cNvPr id="15" name="AutoShape 15"/>
          <p:cNvSpPr/>
          <p:nvPr/>
        </p:nvSpPr>
        <p:spPr>
          <a:xfrm>
            <a:off x="4648200" y="2748643"/>
            <a:ext cx="2997254" cy="3121184"/>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a:solidFill>
                  <a:srgbClr val="555555"/>
                </a:solidFill>
                <a:latin typeface="Noto Sans SC"/>
                <a:ea typeface="Noto Sans SC"/>
                <a:cs typeface="Noto Sans SC"/>
                <a:sym typeface="Noto Sans SC"/>
              </a:rPr>
              <a:t>前端框架：</a:t>
            </a:r>
            <a:r>
              <a:rPr lang="en-US" altLang="zh-CN">
                <a:solidFill>
                  <a:srgbClr val="555555"/>
                </a:solidFill>
                <a:latin typeface="Noto Sans SC"/>
                <a:ea typeface="Noto Sans SC"/>
                <a:cs typeface="Noto Sans SC"/>
                <a:sym typeface="Noto Sans SC"/>
              </a:rPr>
              <a:t>Vue 3 </a:t>
            </a:r>
            <a:r>
              <a:rPr lang="zh-CN" altLang="en-US">
                <a:solidFill>
                  <a:srgbClr val="555555"/>
                </a:solidFill>
                <a:latin typeface="Noto Sans SC"/>
                <a:ea typeface="Noto Sans SC"/>
                <a:cs typeface="Noto Sans SC"/>
                <a:sym typeface="Noto Sans SC"/>
              </a:rPr>
              <a:t>+ </a:t>
            </a:r>
            <a:r>
              <a:rPr lang="en-US" altLang="zh-CN">
                <a:solidFill>
                  <a:srgbClr val="555555"/>
                </a:solidFill>
                <a:latin typeface="Noto Sans SC"/>
                <a:ea typeface="Noto Sans SC"/>
                <a:cs typeface="Noto Sans SC"/>
                <a:sym typeface="Noto Sans SC"/>
              </a:rPr>
              <a:t>Composition API</a:t>
            </a:r>
            <a:endParaRPr lang="en-US" altLang="zh-CN">
              <a:solidFill>
                <a:srgbClr val="555555"/>
              </a:solidFill>
              <a:latin typeface="Noto Sans SC"/>
              <a:ea typeface="Noto Sans SC"/>
              <a:cs typeface="Noto Sans SC"/>
              <a:sym typeface="Noto Sans SC"/>
            </a:endParaRPr>
          </a:p>
          <a:p>
            <a:pPr marL="0" indent="0" algn="l">
              <a:lnSpc>
                <a:spcPct val="117000"/>
              </a:lnSpc>
              <a:defRPr/>
            </a:pPr>
            <a:r>
              <a:rPr lang="zh-CN" altLang="en-US">
                <a:solidFill>
                  <a:srgbClr val="555555"/>
                </a:solidFill>
                <a:latin typeface="Noto Sans SC"/>
                <a:ea typeface="Noto Sans SC"/>
                <a:cs typeface="Noto Sans SC"/>
                <a:sym typeface="Noto Sans SC"/>
              </a:rPr>
              <a:t>前端构建：</a:t>
            </a:r>
            <a:r>
              <a:rPr lang="en-US" altLang="zh-CN">
                <a:solidFill>
                  <a:srgbClr val="555555"/>
                </a:solidFill>
                <a:latin typeface="Noto Sans SC"/>
                <a:ea typeface="Noto Sans SC"/>
                <a:cs typeface="Noto Sans SC"/>
                <a:sym typeface="Noto Sans SC"/>
              </a:rPr>
              <a:t>Vite</a:t>
            </a:r>
            <a:endParaRPr lang="zh-CN" altLang="en-US">
              <a:solidFill>
                <a:srgbClr val="555555"/>
              </a:solidFill>
              <a:latin typeface="Noto Sans SC"/>
              <a:ea typeface="Noto Sans SC"/>
              <a:cs typeface="Noto Sans SC"/>
              <a:sym typeface="Noto Sans SC"/>
            </a:endParaRPr>
          </a:p>
          <a:p>
            <a:pPr marL="0" indent="0" algn="l">
              <a:lnSpc>
                <a:spcPct val="117000"/>
              </a:lnSpc>
              <a:defRPr/>
            </a:pPr>
            <a:r>
              <a:rPr lang="zh-CN" altLang="en-US">
                <a:solidFill>
                  <a:srgbClr val="555555"/>
                </a:solidFill>
                <a:latin typeface="Noto Sans SC"/>
                <a:ea typeface="Noto Sans SC"/>
                <a:cs typeface="Noto Sans SC"/>
                <a:sym typeface="Noto Sans SC"/>
              </a:rPr>
              <a:t>状态管理：</a:t>
            </a:r>
            <a:r>
              <a:rPr lang="en-US" altLang="zh-CN">
                <a:solidFill>
                  <a:srgbClr val="555555"/>
                </a:solidFill>
                <a:latin typeface="Noto Sans SC"/>
                <a:ea typeface="Noto Sans SC"/>
                <a:cs typeface="Noto Sans SC"/>
                <a:sym typeface="Noto Sans SC"/>
              </a:rPr>
              <a:t>Pinia</a:t>
            </a:r>
            <a:endParaRPr lang="zh-CN" altLang="en-US">
              <a:solidFill>
                <a:srgbClr val="555555"/>
              </a:solidFill>
              <a:latin typeface="Noto Sans SC"/>
              <a:ea typeface="Noto Sans SC"/>
              <a:cs typeface="Noto Sans SC"/>
              <a:sym typeface="Noto Sans SC"/>
            </a:endParaRPr>
          </a:p>
          <a:p>
            <a:pPr marL="0" indent="0" algn="l">
              <a:lnSpc>
                <a:spcPct val="117000"/>
              </a:lnSpc>
              <a:defRPr/>
            </a:pPr>
            <a:r>
              <a:rPr lang="en-US" altLang="zh-CN" sz="1400" b="0" i="0" u="none" strike="noStrike">
                <a:solidFill>
                  <a:srgbClr val="555555"/>
                </a:solidFill>
                <a:latin typeface="Noto Sans SC"/>
                <a:ea typeface="Noto Sans SC"/>
                <a:cs typeface="Noto Sans SC"/>
                <a:sym typeface="Noto Sans SC"/>
              </a:rPr>
              <a:t>UI</a:t>
            </a:r>
            <a:r>
              <a:rPr lang="zh-CN" altLang="en-US" sz="1400" b="0" i="0" u="none" strike="noStrike">
                <a:solidFill>
                  <a:srgbClr val="555555"/>
                </a:solidFill>
                <a:latin typeface="Noto Sans SC"/>
                <a:ea typeface="Noto Sans SC"/>
                <a:cs typeface="Noto Sans SC"/>
                <a:sym typeface="Noto Sans SC"/>
              </a:rPr>
              <a:t>组件库：</a:t>
            </a:r>
            <a:r>
              <a:rPr lang="en-US" altLang="zh-CN" sz="1400" b="0" i="0" u="none" strike="noStrike">
                <a:solidFill>
                  <a:srgbClr val="555555"/>
                </a:solidFill>
                <a:latin typeface="Noto Sans SC"/>
                <a:ea typeface="Noto Sans SC"/>
                <a:cs typeface="Noto Sans SC"/>
                <a:sym typeface="Noto Sans SC"/>
              </a:rPr>
              <a:t>Element Plus</a:t>
            </a:r>
            <a:endParaRPr lang="zh-CN" altLang="en-US" sz="1400" b="0" i="0" u="none" strike="noStrike">
              <a:solidFill>
                <a:srgbClr val="555555"/>
              </a:solidFill>
              <a:latin typeface="Noto Sans SC"/>
              <a:ea typeface="Noto Sans SC"/>
              <a:cs typeface="Noto Sans SC"/>
              <a:sym typeface="Noto Sans SC"/>
            </a:endParaRPr>
          </a:p>
          <a:p>
            <a:pPr marL="0" indent="0" algn="l">
              <a:lnSpc>
                <a:spcPct val="117000"/>
              </a:lnSpc>
              <a:defRPr/>
            </a:pPr>
            <a:r>
              <a:rPr lang="en-US" altLang="zh-CN" sz="1400" b="0" i="0" u="none" strike="noStrike">
                <a:solidFill>
                  <a:srgbClr val="555555"/>
                </a:solidFill>
                <a:latin typeface="Noto Sans SC"/>
                <a:ea typeface="Noto Sans SC"/>
                <a:cs typeface="Noto Sans SC"/>
                <a:sym typeface="Noto Sans SC"/>
              </a:rPr>
              <a:t>HTTP</a:t>
            </a:r>
            <a:r>
              <a:rPr lang="zh-CN" altLang="en-US" sz="1400" b="0" i="0" u="none" strike="noStrike">
                <a:solidFill>
                  <a:srgbClr val="555555"/>
                </a:solidFill>
                <a:latin typeface="Noto Sans SC"/>
                <a:ea typeface="Noto Sans SC"/>
                <a:cs typeface="Noto Sans SC"/>
                <a:sym typeface="Noto Sans SC"/>
              </a:rPr>
              <a:t>请求：</a:t>
            </a:r>
            <a:r>
              <a:rPr lang="en-US" altLang="zh-CN" sz="1400" b="0" i="0" u="none" strike="noStrike">
                <a:solidFill>
                  <a:srgbClr val="555555"/>
                </a:solidFill>
                <a:latin typeface="Noto Sans SC"/>
                <a:ea typeface="Noto Sans SC"/>
                <a:cs typeface="Noto Sans SC"/>
                <a:sym typeface="Noto Sans SC"/>
              </a:rPr>
              <a:t>Axios</a:t>
            </a:r>
            <a:endParaRPr lang="en-US" altLang="zh-CN" sz="1400" b="0" i="0" u="none" strike="noStrike">
              <a:solidFill>
                <a:srgbClr val="555555"/>
              </a:solidFill>
              <a:latin typeface="Noto Sans SC"/>
              <a:ea typeface="Noto Sans SC"/>
              <a:cs typeface="Noto Sans SC"/>
              <a:sym typeface="Noto Sans SC"/>
            </a:endParaRPr>
          </a:p>
          <a:p>
            <a:pPr marL="0" indent="0" algn="l">
              <a:lnSpc>
                <a:spcPct val="117000"/>
              </a:lnSpc>
              <a:defRPr/>
            </a:pPr>
            <a:endParaRPr lang="en-US" altLang="zh-CN">
              <a:solidFill>
                <a:srgbClr val="555555"/>
              </a:solidFill>
              <a:latin typeface="Noto Sans SC" charset="0"/>
              <a:ea typeface="Noto Sans SC" charset="0"/>
              <a:cs typeface="Noto Sans SC" charset="0"/>
              <a:sym typeface="Noto Sans SC"/>
            </a:endParaRPr>
          </a:p>
          <a:p>
            <a:pPr marL="0" indent="0" algn="l">
              <a:lnSpc>
                <a:spcPct val="117000"/>
              </a:lnSpc>
              <a:defRPr/>
            </a:pPr>
            <a:endParaRPr lang="en-US" altLang="zh-CN">
              <a:solidFill>
                <a:srgbClr val="555555"/>
              </a:solidFill>
              <a:latin typeface="Noto Sans SC" charset="0"/>
              <a:ea typeface="Noto Sans SC" charset="0"/>
              <a:cs typeface="Noto Sans SC" charset="0"/>
              <a:sym typeface="Noto Sans SC"/>
            </a:endParaRPr>
          </a:p>
          <a:p>
            <a:pPr marL="0" indent="0" algn="l">
              <a:lnSpc>
                <a:spcPct val="117000"/>
              </a:lnSpc>
              <a:defRPr/>
            </a:pPr>
            <a:endParaRPr lang="zh-CN" altLang="en-US" sz="1400" b="0" i="0" u="none" strike="noStrike">
              <a:solidFill>
                <a:srgbClr val="555555"/>
              </a:solidFill>
              <a:latin typeface="Noto Sans SC"/>
              <a:ea typeface="Noto Sans SC"/>
              <a:cs typeface="Noto Sans SC"/>
              <a:sym typeface="Noto Sans SC"/>
            </a:endParaRPr>
          </a:p>
        </p:txBody>
      </p:sp>
      <p:sp>
        <p:nvSpPr>
          <p:cNvPr id="16" name="AutoShape 16"/>
          <p:cNvSpPr/>
          <p:nvPr/>
        </p:nvSpPr>
        <p:spPr>
          <a:xfrm>
            <a:off x="8021194" y="2286000"/>
            <a:ext cx="3383406" cy="3775207"/>
          </a:xfrm>
          <a:prstGeom prst="roundRect">
            <a:avLst>
              <a:gd name="adj" fmla="val 0"/>
            </a:avLst>
          </a:prstGeom>
          <a:solidFill>
            <a:srgbClr val="FFFFFF">
              <a:alpha val="50000"/>
            </a:srgbClr>
          </a:solidFill>
          <a:ln w="12700" cap="flat" cmpd="sng">
            <a:solidFill>
              <a:srgbClr val="4CAF50">
                <a:alpha val="3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8026400" y="2286000"/>
            <a:ext cx="3378200" cy="508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80400" y="2603500"/>
            <a:ext cx="457200" cy="457200"/>
          </a:xfrm>
          <a:prstGeom prst="rect">
            <a:avLst/>
          </a:prstGeom>
        </p:spPr>
      </p:pic>
      <p:sp>
        <p:nvSpPr>
          <p:cNvPr id="19" name="AutoShape 19"/>
          <p:cNvSpPr/>
          <p:nvPr/>
        </p:nvSpPr>
        <p:spPr>
          <a:xfrm>
            <a:off x="8864600" y="26416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a:ea typeface="Noto Sans SC"/>
                <a:cs typeface="Noto Sans SC"/>
                <a:sym typeface="Noto Sans SC"/>
              </a:rPr>
              <a:t>技术选型：稳健前沿</a:t>
            </a:r>
            <a:endParaRPr lang="en-US" sz="1100"/>
          </a:p>
        </p:txBody>
      </p:sp>
      <p:cxnSp>
        <p:nvCxnSpPr>
          <p:cNvPr id="20" name="Connector 20"/>
          <p:cNvCxnSpPr/>
          <p:nvPr/>
        </p:nvCxnSpPr>
        <p:spPr>
          <a:xfrm rot="-15211">
            <a:off x="8280414" y="3232150"/>
            <a:ext cx="2870200" cy="12700"/>
          </a:xfrm>
          <a:prstGeom prst="straightConnector1">
            <a:avLst/>
          </a:prstGeom>
          <a:solidFill>
            <a:srgbClr val="DEE0E3">
              <a:alpha val="100000"/>
            </a:srgbClr>
          </a:solidFill>
          <a:ln w="12700" cap="flat" cmpd="sng">
            <a:solidFill>
              <a:srgbClr val="4CAF50">
                <a:alpha val="20000"/>
              </a:srgbClr>
            </a:solidFill>
            <a:prstDash val="solid"/>
            <a:round/>
            <a:headEnd type="none" w="med" len="med"/>
            <a:tailEnd type="none" w="med" len="med"/>
          </a:ln>
        </p:spPr>
      </p:cxnSp>
      <p:sp>
        <p:nvSpPr>
          <p:cNvPr id="21" name="AutoShape 21"/>
          <p:cNvSpPr/>
          <p:nvPr/>
        </p:nvSpPr>
        <p:spPr>
          <a:xfrm>
            <a:off x="8280400" y="2286000"/>
            <a:ext cx="2870200" cy="3583827"/>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a:solidFill>
                  <a:srgbClr val="555555"/>
                </a:solidFill>
                <a:latin typeface="Noto Sans SC" charset="0"/>
                <a:ea typeface="Noto Sans SC" charset="0"/>
                <a:cs typeface="Noto Sans SC" charset="0"/>
                <a:sym typeface="Noto Sans SC"/>
              </a:rPr>
              <a:t>后端框架：</a:t>
            </a:r>
            <a:r>
              <a:rPr lang="en-US" altLang="zh-CN">
                <a:solidFill>
                  <a:srgbClr val="555555"/>
                </a:solidFill>
                <a:latin typeface="Noto Sans SC" charset="0"/>
                <a:ea typeface="Noto Sans SC" charset="0"/>
                <a:cs typeface="Noto Sans SC" charset="0"/>
                <a:sym typeface="Noto Sans SC"/>
              </a:rPr>
              <a:t>Spring Boot</a:t>
            </a:r>
            <a:endParaRPr lang="en-US" altLang="zh-CN">
              <a:solidFill>
                <a:srgbClr val="555555"/>
              </a:solidFill>
              <a:latin typeface="Noto Sans SC" charset="0"/>
              <a:ea typeface="Noto Sans SC" charset="0"/>
              <a:cs typeface="Noto Sans SC" charset="0"/>
              <a:sym typeface="Noto Sans SC"/>
            </a:endParaRPr>
          </a:p>
          <a:p>
            <a:pPr marL="0" indent="0" algn="l">
              <a:lnSpc>
                <a:spcPct val="117000"/>
              </a:lnSpc>
              <a:defRPr/>
            </a:pPr>
            <a:r>
              <a:rPr lang="en-US" altLang="zh-CN">
                <a:solidFill>
                  <a:srgbClr val="555555"/>
                </a:solidFill>
                <a:latin typeface="Noto Sans SC" charset="0"/>
                <a:ea typeface="Noto Sans SC" charset="0"/>
                <a:cs typeface="Noto Sans SC" charset="0"/>
                <a:sym typeface="Noto Sans SC"/>
              </a:rPr>
              <a:t>ORM</a:t>
            </a:r>
            <a:r>
              <a:rPr lang="zh-CN" altLang="en-US">
                <a:solidFill>
                  <a:srgbClr val="555555"/>
                </a:solidFill>
                <a:latin typeface="Noto Sans SC" charset="0"/>
                <a:ea typeface="Noto Sans SC" charset="0"/>
                <a:cs typeface="Noto Sans SC" charset="0"/>
                <a:sym typeface="Noto Sans SC"/>
              </a:rPr>
              <a:t>框架</a:t>
            </a:r>
            <a:r>
              <a:rPr lang="en-US" altLang="zh-CN">
                <a:solidFill>
                  <a:srgbClr val="555555"/>
                </a:solidFill>
                <a:latin typeface="Noto Sans SC" charset="0"/>
                <a:ea typeface="Noto Sans SC" charset="0"/>
                <a:cs typeface="Noto Sans SC" charset="0"/>
                <a:sym typeface="Noto Sans SC"/>
              </a:rPr>
              <a:t>	MyBatis</a:t>
            </a:r>
            <a:r>
              <a:rPr lang="zh-CN" altLang="en-US">
                <a:solidFill>
                  <a:srgbClr val="555555"/>
                </a:solidFill>
                <a:latin typeface="Noto Sans SC" charset="0"/>
                <a:ea typeface="Noto Sans SC" charset="0"/>
                <a:cs typeface="Noto Sans SC" charset="0"/>
                <a:sym typeface="Noto Sans SC"/>
              </a:rPr>
              <a:t>-</a:t>
            </a:r>
            <a:r>
              <a:rPr lang="en-US" altLang="zh-CN">
                <a:solidFill>
                  <a:srgbClr val="555555"/>
                </a:solidFill>
                <a:latin typeface="Noto Sans SC" charset="0"/>
                <a:ea typeface="Noto Sans SC" charset="0"/>
                <a:cs typeface="Noto Sans SC" charset="0"/>
                <a:sym typeface="Noto Sans SC"/>
              </a:rPr>
              <a:t>Plus</a:t>
            </a:r>
            <a:endParaRPr lang="en-US" altLang="zh-CN" sz="1400" b="0" i="0" u="none" strike="noStrike">
              <a:solidFill>
                <a:srgbClr val="555555"/>
              </a:solidFill>
              <a:latin typeface="Noto Sans SC" charset="0"/>
              <a:ea typeface="Noto Sans SC" charset="0"/>
              <a:cs typeface="Noto Sans SC" charset="0"/>
              <a:sym typeface="Noto Sans SC"/>
            </a:endParaRPr>
          </a:p>
          <a:p>
            <a:pPr marL="0" indent="0" algn="l">
              <a:lnSpc>
                <a:spcPct val="117000"/>
              </a:lnSpc>
              <a:defRPr/>
            </a:pPr>
            <a:r>
              <a:rPr lang="zh-CN" altLang="en-US">
                <a:solidFill>
                  <a:srgbClr val="555555"/>
                </a:solidFill>
                <a:latin typeface="Noto Sans SC" charset="0"/>
                <a:ea typeface="Noto Sans SC" charset="0"/>
                <a:cs typeface="Noto Sans SC" charset="0"/>
                <a:sym typeface="Noto Sans SC"/>
              </a:rPr>
              <a:t>数据库</a:t>
            </a:r>
            <a:r>
              <a:rPr lang="en-US" altLang="zh-CN">
                <a:solidFill>
                  <a:srgbClr val="555555"/>
                </a:solidFill>
                <a:latin typeface="Noto Sans SC" charset="0"/>
                <a:ea typeface="Noto Sans SC" charset="0"/>
                <a:cs typeface="Noto Sans SC" charset="0"/>
                <a:sym typeface="Noto Sans SC"/>
              </a:rPr>
              <a:t>	MySQL</a:t>
            </a:r>
            <a:endParaRPr lang="en-US" altLang="zh-CN">
              <a:solidFill>
                <a:srgbClr val="555555"/>
              </a:solidFill>
              <a:latin typeface="Noto Sans SC" charset="0"/>
              <a:ea typeface="Noto Sans SC" charset="0"/>
              <a:cs typeface="Noto Sans SC" charset="0"/>
              <a:sym typeface="Noto Sans SC"/>
            </a:endParaRPr>
          </a:p>
          <a:p>
            <a:pPr marL="0" indent="0" algn="l">
              <a:lnSpc>
                <a:spcPct val="117000"/>
              </a:lnSpc>
              <a:defRPr/>
            </a:pPr>
            <a:r>
              <a:rPr lang="zh-CN" altLang="en-US">
                <a:solidFill>
                  <a:srgbClr val="555555"/>
                </a:solidFill>
                <a:latin typeface="Noto Sans SC" charset="0"/>
                <a:ea typeface="Noto Sans SC" charset="0"/>
                <a:cs typeface="Noto Sans SC" charset="0"/>
                <a:sym typeface="Noto Sans SC"/>
              </a:rPr>
              <a:t>认证授权</a:t>
            </a:r>
            <a:r>
              <a:rPr lang="en-US" altLang="zh-CN">
                <a:solidFill>
                  <a:srgbClr val="555555"/>
                </a:solidFill>
                <a:latin typeface="Noto Sans SC" charset="0"/>
                <a:ea typeface="Noto Sans SC" charset="0"/>
                <a:cs typeface="Noto Sans SC" charset="0"/>
                <a:sym typeface="Noto Sans SC"/>
              </a:rPr>
              <a:t>	JWT Token</a:t>
            </a:r>
            <a:endParaRPr lang="en-US" altLang="zh-CN">
              <a:solidFill>
                <a:srgbClr val="555555"/>
              </a:solidFill>
              <a:latin typeface="Noto Sans SC" charset="0"/>
              <a:ea typeface="Noto Sans SC" charset="0"/>
              <a:cs typeface="Noto Sans SC" charset="0"/>
              <a:sym typeface="Noto Sans SC"/>
            </a:endParaRPr>
          </a:p>
          <a:p>
            <a:pPr marL="0" indent="0" algn="l">
              <a:lnSpc>
                <a:spcPct val="117000"/>
              </a:lnSpc>
              <a:defRPr/>
            </a:pPr>
            <a:r>
              <a:rPr lang="zh-CN" altLang="en-US">
                <a:solidFill>
                  <a:srgbClr val="555555"/>
                </a:solidFill>
                <a:latin typeface="Noto Sans SC" charset="0"/>
                <a:ea typeface="Noto Sans SC" charset="0"/>
                <a:cs typeface="Noto Sans SC" charset="0"/>
                <a:sym typeface="Noto Sans SC"/>
              </a:rPr>
              <a:t>版本控制	</a:t>
            </a:r>
            <a:r>
              <a:rPr lang="en-US" altLang="zh-CN">
                <a:solidFill>
                  <a:srgbClr val="555555"/>
                </a:solidFill>
                <a:latin typeface="Noto Sans SC" charset="0"/>
                <a:ea typeface="Noto Sans SC" charset="0"/>
                <a:cs typeface="Noto Sans SC" charset="0"/>
                <a:sym typeface="Noto Sans SC"/>
              </a:rPr>
              <a:t>Git</a:t>
            </a:r>
            <a:endParaRPr lang="en-US" altLang="zh-CN">
              <a:solidFill>
                <a:srgbClr val="555555"/>
              </a:solidFill>
              <a:latin typeface="Noto Sans SC" charset="0"/>
              <a:ea typeface="Noto Sans SC" charset="0"/>
              <a:cs typeface="Noto Sans SC" charset="0"/>
              <a:sym typeface="Noto Sans SC"/>
            </a:endParaRPr>
          </a:p>
          <a:p>
            <a:pPr marL="0" indent="0" algn="l">
              <a:lnSpc>
                <a:spcPct val="117000"/>
              </a:lnSpc>
              <a:defRPr/>
            </a:pPr>
            <a:r>
              <a:rPr lang="zh-CN" altLang="en-US">
                <a:solidFill>
                  <a:srgbClr val="555555"/>
                </a:solidFill>
                <a:latin typeface="Noto Sans SC" charset="0"/>
                <a:ea typeface="Noto Sans SC" charset="0"/>
                <a:cs typeface="Noto Sans SC" charset="0"/>
                <a:sym typeface="Noto Sans SC"/>
              </a:rPr>
              <a:t>项目构建</a:t>
            </a:r>
            <a:r>
              <a:rPr lang="en-US" altLang="zh-CN">
                <a:solidFill>
                  <a:srgbClr val="555555"/>
                </a:solidFill>
                <a:latin typeface="Noto Sans SC" charset="0"/>
                <a:ea typeface="Noto Sans SC" charset="0"/>
                <a:cs typeface="Noto Sans SC" charset="0"/>
                <a:sym typeface="Noto Sans SC"/>
              </a:rPr>
              <a:t>	Maven</a:t>
            </a:r>
            <a:endParaRPr lang="en-US" sz="1100">
              <a:solidFill>
                <a:srgbClr val="555555"/>
              </a:solidFill>
              <a:latin typeface="Noto Sans SC" charset="0"/>
              <a:ea typeface="Noto Sans SC" charset="0"/>
              <a:cs typeface="Noto Sans SC" charset="0"/>
              <a:sym typeface="Noto Sans SC"/>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02 系统整体设计</a:t>
            </a:r>
            <a:r>
              <a:rPr lang="zh-CN" altLang="en-US" sz="3200" b="1" i="0" u="none" strike="noStrike">
                <a:solidFill>
                  <a:srgbClr val="333333"/>
                </a:solidFill>
                <a:latin typeface="Noto Sans SC"/>
                <a:ea typeface="Noto Sans SC"/>
                <a:cs typeface="Noto Sans SC"/>
                <a:sym typeface="Noto Sans SC"/>
              </a:rPr>
              <a:t>：系统架构图</a:t>
            </a:r>
            <a:endParaRPr lang="en-US" sz="1100"/>
          </a:p>
        </p:txBody>
      </p:sp>
      <p:sp>
        <p:nvSpPr>
          <p:cNvPr id="19" name="文本框 18"/>
          <p:cNvSpPr txBox="1"/>
          <p:nvPr userDrawn="1"/>
        </p:nvSpPr>
        <p:spPr>
          <a:xfrm>
            <a:off x="9074785" y="1270000"/>
            <a:ext cx="2912576" cy="5465631"/>
          </a:xfrm>
          <a:prstGeom prst="rect">
            <a:avLst/>
          </a:prstGeom>
        </p:spPr>
        <p:txBody>
          <a:bodyPr wrap="square" rtlCol="0">
            <a:noAutofit/>
          </a:bodyPr>
          <a:p>
            <a:r>
              <a:rPr lang="zh-CN" altLang="en-US" sz="2000" b="1"/>
              <a:t>架构特点说明</a:t>
            </a:r>
            <a:endParaRPr lang="zh-CN" altLang="en-US" sz="2000" b="1"/>
          </a:p>
          <a:p>
            <a:r>
              <a:rPr lang="zh-CN" altLang="en-US" sz="1800" b="1"/>
              <a:t>前后端分离：</a:t>
            </a:r>
            <a:r>
              <a:rPr lang="zh-CN" altLang="en-US" sz="1800"/>
              <a:t>前端</a:t>
            </a:r>
            <a:r>
              <a:rPr lang="en-US" altLang="zh-CN" sz="1800"/>
              <a:t>Vue3</a:t>
            </a:r>
            <a:r>
              <a:rPr lang="zh-CN" altLang="en-US" sz="1800"/>
              <a:t>独立部署，后端</a:t>
            </a:r>
            <a:r>
              <a:rPr lang="en-US" altLang="zh-CN" sz="1800"/>
              <a:t>Spring Boot</a:t>
            </a:r>
            <a:r>
              <a:rPr lang="zh-CN" altLang="en-US" sz="1800"/>
              <a:t>提供</a:t>
            </a:r>
            <a:r>
              <a:rPr lang="en-US" altLang="zh-CN" sz="1800"/>
              <a:t>API</a:t>
            </a:r>
            <a:r>
              <a:rPr lang="zh-CN" altLang="en-US" sz="1800"/>
              <a:t>接口</a:t>
            </a:r>
            <a:endParaRPr lang="zh-CN" altLang="en-US" sz="1800"/>
          </a:p>
          <a:p>
            <a:endParaRPr lang="zh-CN" altLang="en-US" sz="1800"/>
          </a:p>
          <a:p>
            <a:r>
              <a:rPr lang="en-US" altLang="zh-CN" sz="1800" b="1"/>
              <a:t>RESTful</a:t>
            </a:r>
            <a:r>
              <a:rPr lang="zh-CN" altLang="en-US" sz="1800" b="1"/>
              <a:t>设计：</a:t>
            </a:r>
            <a:r>
              <a:rPr lang="zh-CN" altLang="en-US" sz="1800"/>
              <a:t>统一</a:t>
            </a:r>
            <a:r>
              <a:rPr lang="en-US" altLang="zh-CN" sz="1800"/>
              <a:t>API</a:t>
            </a:r>
            <a:r>
              <a:rPr lang="zh-CN" altLang="en-US" sz="1800"/>
              <a:t>风格，规范</a:t>
            </a:r>
            <a:r>
              <a:rPr lang="en-US" altLang="zh-CN" sz="1800"/>
              <a:t>URL</a:t>
            </a:r>
            <a:r>
              <a:rPr lang="zh-CN" altLang="en-US" sz="1800"/>
              <a:t>设计</a:t>
            </a:r>
            <a:endParaRPr lang="zh-CN" altLang="en-US" sz="1800"/>
          </a:p>
          <a:p>
            <a:endParaRPr lang="zh-CN" altLang="en-US" sz="1800"/>
          </a:p>
          <a:p>
            <a:r>
              <a:rPr lang="en-US" altLang="zh-CN" sz="1800" b="1"/>
              <a:t>JWT</a:t>
            </a:r>
            <a:r>
              <a:rPr lang="zh-CN" altLang="en-US" sz="1800" b="1"/>
              <a:t>无状态认证：</a:t>
            </a:r>
            <a:r>
              <a:rPr lang="zh-CN" altLang="en-US" sz="1800"/>
              <a:t>登录后前端存储</a:t>
            </a:r>
            <a:r>
              <a:rPr lang="en-US" altLang="zh-CN" sz="1800"/>
              <a:t>Token</a:t>
            </a:r>
            <a:r>
              <a:rPr lang="zh-CN" altLang="en-US" sz="1800"/>
              <a:t>，请求携带于</a:t>
            </a:r>
            <a:r>
              <a:rPr lang="en-US" altLang="zh-CN" sz="1800"/>
              <a:t>Header</a:t>
            </a:r>
            <a:endParaRPr lang="en-US" altLang="zh-CN" sz="1800"/>
          </a:p>
          <a:p>
            <a:endParaRPr lang="zh-CN" altLang="en-US" sz="1800"/>
          </a:p>
          <a:p>
            <a:r>
              <a:rPr lang="zh-CN" altLang="en-US" sz="1800" b="1"/>
              <a:t>分层清晰：</a:t>
            </a:r>
            <a:r>
              <a:rPr lang="en-US" altLang="zh-CN" sz="1800"/>
              <a:t>Controller → Service → Mapper</a:t>
            </a:r>
            <a:r>
              <a:rPr lang="zh-CN" altLang="en-US" sz="1800"/>
              <a:t>，职责明确</a:t>
            </a:r>
            <a:endParaRPr lang="zh-CN" altLang="en-US" sz="1800"/>
          </a:p>
          <a:p>
            <a:endParaRPr lang="zh-CN" altLang="en-US" sz="1800"/>
          </a:p>
          <a:p>
            <a:r>
              <a:rPr lang="zh-CN" altLang="en-US" sz="1800" b="1"/>
              <a:t>全局异常处理：</a:t>
            </a:r>
            <a:r>
              <a:rPr lang="zh-CN" altLang="en-US" sz="1800"/>
              <a:t>@</a:t>
            </a:r>
            <a:r>
              <a:rPr lang="en-US" altLang="zh-CN" sz="1800"/>
              <a:t>RestControllerAdvice</a:t>
            </a:r>
            <a:r>
              <a:rPr lang="zh-CN" altLang="en-US" sz="1800"/>
              <a:t>统一捕获处理异常</a:t>
            </a:r>
            <a:endParaRPr lang="zh-CN" altLang="en-US" sz="1800"/>
          </a:p>
        </p:txBody>
      </p:sp>
      <p:pic>
        <p:nvPicPr>
          <p:cNvPr id="21" name="图片 20" descr="post_object_image_3251055902"/>
          <p:cNvPicPr>
            <a:picLocks noChangeAspect="1"/>
          </p:cNvPicPr>
          <p:nvPr/>
        </p:nvPicPr>
        <p:blipFill>
          <a:blip r:embed="rId2"/>
          <a:stretch>
            <a:fillRect/>
          </a:stretch>
        </p:blipFill>
        <p:spPr>
          <a:xfrm>
            <a:off x="762037" y="1270031"/>
            <a:ext cx="7815211" cy="524482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02 系统整体设计</a:t>
            </a:r>
            <a:r>
              <a:rPr lang="zh-CN" altLang="en-US" sz="3200" b="1" i="0" u="none" strike="noStrike">
                <a:solidFill>
                  <a:srgbClr val="333333"/>
                </a:solidFill>
                <a:latin typeface="Noto Sans SC"/>
                <a:ea typeface="Noto Sans SC"/>
                <a:cs typeface="Noto Sans SC"/>
                <a:sym typeface="Noto Sans SC"/>
              </a:rPr>
              <a:t>：数据库</a:t>
            </a:r>
            <a:r>
              <a:rPr lang="en-US" altLang="zh-CN" sz="3200" b="1" i="0" u="none" strike="noStrike">
                <a:solidFill>
                  <a:srgbClr val="333333"/>
                </a:solidFill>
                <a:latin typeface="Noto Sans SC"/>
                <a:ea typeface="Noto Sans SC"/>
                <a:cs typeface="Noto Sans SC"/>
                <a:sym typeface="Noto Sans SC"/>
              </a:rPr>
              <a:t>ER</a:t>
            </a:r>
            <a:r>
              <a:rPr lang="zh-CN" altLang="en-US" sz="3200" b="1" i="0" u="none" strike="noStrike">
                <a:solidFill>
                  <a:srgbClr val="333333"/>
                </a:solidFill>
                <a:latin typeface="Noto Sans SC"/>
                <a:ea typeface="Noto Sans SC"/>
                <a:cs typeface="Noto Sans SC"/>
                <a:sym typeface="Noto Sans SC"/>
              </a:rPr>
              <a:t>设计</a:t>
            </a:r>
            <a:endParaRPr lang="en-US" sz="1100"/>
          </a:p>
        </p:txBody>
      </p:sp>
      <p:sp>
        <p:nvSpPr>
          <p:cNvPr id="19" name="文本框 18"/>
          <p:cNvSpPr txBox="1"/>
          <p:nvPr userDrawn="1"/>
        </p:nvSpPr>
        <p:spPr>
          <a:xfrm>
            <a:off x="7334890" y="1270031"/>
            <a:ext cx="2912576" cy="5465631"/>
          </a:xfrm>
          <a:prstGeom prst="rect">
            <a:avLst/>
          </a:prstGeom>
        </p:spPr>
        <p:txBody>
          <a:bodyPr wrap="square" rtlCol="0">
            <a:noAutofit/>
          </a:bodyPr>
          <a:p>
            <a:r>
              <a:rPr lang="zh-CN" altLang="en-US" sz="2000" b="1"/>
              <a:t>表关系说明</a:t>
            </a:r>
            <a:endParaRPr lang="zh-CN" altLang="en-US" sz="2000" b="1"/>
          </a:p>
          <a:p>
            <a:r>
              <a:rPr lang="zh-CN" altLang="en-US" sz="1800"/>
              <a:t>用户 ↔ 角色：多对一（一个用户一个角色）</a:t>
            </a:r>
            <a:endParaRPr lang="zh-CN" altLang="en-US" sz="1800"/>
          </a:p>
          <a:p>
            <a:endParaRPr lang="zh-CN" altLang="en-US" sz="1800"/>
          </a:p>
          <a:p>
            <a:r>
              <a:rPr lang="zh-CN" altLang="en-US" sz="1800"/>
              <a:t>小区 ↔ 楼栋 ↔ 房屋：一对多层级关系（小区→楼栋→房屋）</a:t>
            </a:r>
            <a:endParaRPr lang="zh-CN" altLang="en-US" sz="1800"/>
          </a:p>
          <a:p>
            <a:endParaRPr lang="zh-CN" altLang="en-US" sz="1800"/>
          </a:p>
          <a:p>
            <a:r>
              <a:rPr lang="zh-CN" altLang="en-US" sz="1800"/>
              <a:t>房屋 ↔ 业主：多对多（一户可有多位业主，一个业主有多套房屋）</a:t>
            </a:r>
            <a:endParaRPr lang="zh-CN" altLang="en-US" sz="1800"/>
          </a:p>
          <a:p>
            <a:endParaRPr lang="zh-CN" altLang="en-US" sz="1800"/>
          </a:p>
          <a:p>
            <a:r>
              <a:rPr lang="zh-CN" altLang="en-US" sz="1800"/>
              <a:t>房屋 ↔ 报修：一对多</a:t>
            </a:r>
            <a:endParaRPr lang="zh-CN" altLang="en-US" sz="1800"/>
          </a:p>
          <a:p>
            <a:endParaRPr lang="zh-CN" altLang="en-US" sz="1800"/>
          </a:p>
          <a:p>
            <a:r>
              <a:rPr lang="zh-CN" altLang="en-US" sz="1800"/>
              <a:t>业主 ↔ 报修</a:t>
            </a:r>
            <a:r>
              <a:rPr lang="en-US" altLang="zh-CN" sz="1800"/>
              <a:t>/</a:t>
            </a:r>
            <a:r>
              <a:rPr lang="zh-CN" altLang="en-US" sz="1800"/>
              <a:t>投诉：一对多</a:t>
            </a:r>
            <a:endParaRPr lang="zh-CN" altLang="en-US" sz="1800"/>
          </a:p>
          <a:p>
            <a:endParaRPr lang="zh-CN" altLang="en-US" sz="1800"/>
          </a:p>
          <a:p>
            <a:r>
              <a:rPr lang="zh-CN" altLang="en-US" sz="1800"/>
              <a:t>房屋 ↔ 账单：一对多</a:t>
            </a:r>
            <a:endParaRPr lang="zh-CN" altLang="en-US" sz="1800"/>
          </a:p>
        </p:txBody>
      </p:sp>
      <p:pic>
        <p:nvPicPr>
          <p:cNvPr id="4" name="图片 3" descr="post_object_image_1625520511"/>
          <p:cNvPicPr>
            <a:picLocks noChangeAspect="1"/>
          </p:cNvPicPr>
          <p:nvPr/>
        </p:nvPicPr>
        <p:blipFill>
          <a:blip r:embed="rId2"/>
          <a:stretch>
            <a:fillRect/>
          </a:stretch>
        </p:blipFill>
        <p:spPr>
          <a:xfrm>
            <a:off x="2163190" y="1270048"/>
            <a:ext cx="3733142" cy="532259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02 系统整体设计</a:t>
            </a:r>
            <a:r>
              <a:rPr lang="zh-CN" altLang="en-US" sz="3200" b="1" i="0" u="none" strike="noStrike">
                <a:solidFill>
                  <a:srgbClr val="333333"/>
                </a:solidFill>
                <a:latin typeface="Noto Sans SC"/>
                <a:ea typeface="Noto Sans SC"/>
                <a:cs typeface="Noto Sans SC"/>
                <a:sym typeface="Noto Sans SC"/>
              </a:rPr>
              <a:t>：</a:t>
            </a:r>
            <a:r>
              <a:rPr lang="zh-CN" altLang="en-US" sz="3200" b="1">
                <a:solidFill>
                  <a:srgbClr val="333333"/>
                </a:solidFill>
                <a:latin typeface="Noto Sans SC" charset="0"/>
                <a:ea typeface="Noto Sans SC" charset="0"/>
                <a:cs typeface="Noto Sans SC" charset="0"/>
                <a:sym typeface="Noto Sans SC"/>
              </a:rPr>
              <a:t>功能模块</a:t>
            </a:r>
            <a:endParaRPr lang="zh-CN" altLang="en-US">
              <a:latin typeface="Noto Sans SC" charset="0"/>
              <a:ea typeface="Noto Sans SC" charset="0"/>
              <a:cs typeface="Noto Sans SC" charset="0"/>
              <a:sym typeface="Noto Sans SC"/>
            </a:endParaRPr>
          </a:p>
        </p:txBody>
      </p:sp>
      <p:pic>
        <p:nvPicPr>
          <p:cNvPr id="5" name="图片 4" descr="post_object_image_4013235348"/>
          <p:cNvPicPr>
            <a:picLocks noChangeAspect="1"/>
          </p:cNvPicPr>
          <p:nvPr/>
        </p:nvPicPr>
        <p:blipFill>
          <a:blip r:embed="rId2"/>
          <a:stretch>
            <a:fillRect/>
          </a:stretch>
        </p:blipFill>
        <p:spPr>
          <a:xfrm>
            <a:off x="1834576" y="1389636"/>
            <a:ext cx="8282223" cy="509675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02 系统整体设计</a:t>
            </a:r>
            <a:r>
              <a:rPr lang="zh-CN" altLang="en-US" sz="3200" b="1" i="0" u="none" strike="noStrike">
                <a:solidFill>
                  <a:srgbClr val="333333"/>
                </a:solidFill>
                <a:latin typeface="Noto Sans SC"/>
                <a:ea typeface="Noto Sans SC"/>
                <a:cs typeface="Noto Sans SC"/>
                <a:sym typeface="Noto Sans SC"/>
              </a:rPr>
              <a:t>：接口设计思路</a:t>
            </a:r>
            <a:endParaRPr lang="en-US" sz="1100"/>
          </a:p>
        </p:txBody>
      </p:sp>
      <p:pic>
        <p:nvPicPr>
          <p:cNvPr id="4" name="图片 3" descr="post_object_image_1619678339"/>
          <p:cNvPicPr>
            <a:picLocks noChangeAspect="1"/>
          </p:cNvPicPr>
          <p:nvPr/>
        </p:nvPicPr>
        <p:blipFill>
          <a:blip r:embed="rId2"/>
          <a:stretch>
            <a:fillRect/>
          </a:stretch>
        </p:blipFill>
        <p:spPr>
          <a:xfrm>
            <a:off x="417018" y="1861748"/>
            <a:ext cx="4276725" cy="1857375"/>
          </a:xfrm>
          <a:prstGeom prst="rect">
            <a:avLst/>
          </a:prstGeom>
        </p:spPr>
      </p:pic>
      <p:sp>
        <p:nvSpPr>
          <p:cNvPr id="5" name="文本框 4"/>
          <p:cNvSpPr txBox="1"/>
          <p:nvPr userDrawn="1"/>
        </p:nvSpPr>
        <p:spPr>
          <a:xfrm>
            <a:off x="417018" y="1423104"/>
            <a:ext cx="1753412" cy="438716"/>
          </a:xfrm>
          <a:prstGeom prst="rect">
            <a:avLst/>
          </a:prstGeom>
        </p:spPr>
        <p:txBody>
          <a:bodyPr wrap="square" rtlCol="0">
            <a:noAutofit/>
          </a:bodyPr>
          <a:p>
            <a:r>
              <a:rPr lang="zh-CN" altLang="en-US" sz="1800"/>
              <a:t>统一</a:t>
            </a:r>
            <a:r>
              <a:rPr lang="zh-CN" altLang="en-US" sz="1800">
                <a:cs typeface="Arial" panose="020B0604020202020204" pitchFamily="34" charset="0"/>
              </a:rPr>
              <a:t>响应格式</a:t>
            </a:r>
            <a:endParaRPr lang="zh-CN" altLang="en-US" sz="1800"/>
          </a:p>
        </p:txBody>
      </p:sp>
      <p:pic>
        <p:nvPicPr>
          <p:cNvPr id="6" name="图片 5" descr="post_object_image_2200571360"/>
          <p:cNvPicPr>
            <a:picLocks noChangeAspect="1"/>
          </p:cNvPicPr>
          <p:nvPr/>
        </p:nvPicPr>
        <p:blipFill>
          <a:blip r:embed="rId3"/>
          <a:stretch>
            <a:fillRect/>
          </a:stretch>
        </p:blipFill>
        <p:spPr>
          <a:xfrm>
            <a:off x="417018" y="4025303"/>
            <a:ext cx="4276777" cy="1631180"/>
          </a:xfrm>
          <a:prstGeom prst="rect">
            <a:avLst/>
          </a:prstGeom>
        </p:spPr>
      </p:pic>
      <p:pic>
        <p:nvPicPr>
          <p:cNvPr id="7" name="图片 6" descr="post_object_image_4236514511"/>
          <p:cNvPicPr>
            <a:picLocks noChangeAspect="1"/>
          </p:cNvPicPr>
          <p:nvPr/>
        </p:nvPicPr>
        <p:blipFill>
          <a:blip r:embed="rId4"/>
          <a:stretch>
            <a:fillRect/>
          </a:stretch>
        </p:blipFill>
        <p:spPr>
          <a:xfrm>
            <a:off x="5689738" y="1792660"/>
            <a:ext cx="4867275" cy="4800600"/>
          </a:xfrm>
          <a:prstGeom prst="rect">
            <a:avLst/>
          </a:prstGeom>
        </p:spPr>
      </p:pic>
      <p:sp>
        <p:nvSpPr>
          <p:cNvPr id="8" name="文本框 7"/>
          <p:cNvSpPr txBox="1"/>
          <p:nvPr userDrawn="1"/>
        </p:nvSpPr>
        <p:spPr>
          <a:xfrm>
            <a:off x="5689651" y="1423104"/>
            <a:ext cx="1922780" cy="368300"/>
          </a:xfrm>
          <a:prstGeom prst="rect">
            <a:avLst/>
          </a:prstGeom>
        </p:spPr>
        <p:txBody>
          <a:bodyPr wrap="none" rtlCol="0">
            <a:spAutoFit/>
          </a:bodyPr>
          <a:p>
            <a:r>
              <a:rPr lang="en-US" altLang="zh-CN" sz="1800"/>
              <a:t>RESTful API</a:t>
            </a:r>
            <a:r>
              <a:rPr lang="zh-CN" altLang="en-US" sz="1800"/>
              <a:t>设计</a:t>
            </a:r>
            <a:endParaRPr lang="zh-CN" altLang="en-US" sz="18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03 手工编码核心成果</a:t>
            </a:r>
            <a:endParaRPr lang="en-US" sz="1100"/>
          </a:p>
        </p:txBody>
      </p:sp>
      <p:sp>
        <p:nvSpPr>
          <p:cNvPr id="4" name="AutoShape 4"/>
          <p:cNvSpPr/>
          <p:nvPr/>
        </p:nvSpPr>
        <p:spPr>
          <a:xfrm>
            <a:off x="762000" y="2286000"/>
            <a:ext cx="5207000" cy="3302000"/>
          </a:xfrm>
          <a:prstGeom prst="roundRect">
            <a:avLst>
              <a:gd name="adj" fmla="val 0"/>
            </a:avLst>
          </a:prstGeom>
          <a:solidFill>
            <a:srgbClr val="FFFFFF">
              <a:alpha val="65000"/>
            </a:srgbClr>
          </a:solidFill>
          <a:ln w="12700" cap="flat" cmpd="sng">
            <a:solidFill>
              <a:srgbClr val="4CAF50">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2286000"/>
            <a:ext cx="5207000" cy="508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6800" y="2641600"/>
            <a:ext cx="406400" cy="406400"/>
          </a:xfrm>
          <a:prstGeom prst="rect">
            <a:avLst/>
          </a:prstGeom>
        </p:spPr>
      </p:pic>
      <p:sp>
        <p:nvSpPr>
          <p:cNvPr id="7" name="AutoShape 7"/>
          <p:cNvSpPr/>
          <p:nvPr/>
        </p:nvSpPr>
        <p:spPr>
          <a:xfrm>
            <a:off x="1600200" y="2616200"/>
            <a:ext cx="4064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CAF50"/>
                </a:solidFill>
                <a:latin typeface="Noto Sans SC"/>
                <a:ea typeface="Noto Sans SC"/>
                <a:cs typeface="Noto Sans SC"/>
                <a:sym typeface="Noto Sans SC"/>
              </a:rPr>
              <a:t>JWT 无状态登录认证体系</a:t>
            </a:r>
            <a:endParaRPr lang="en-US" sz="1100"/>
          </a:p>
        </p:txBody>
      </p:sp>
      <p:cxnSp>
        <p:nvCxnSpPr>
          <p:cNvPr id="8" name="Connector 8"/>
          <p:cNvCxnSpPr/>
          <p:nvPr/>
        </p:nvCxnSpPr>
        <p:spPr>
          <a:xfrm rot="-9496">
            <a:off x="1066809" y="3232150"/>
            <a:ext cx="4597400" cy="12700"/>
          </a:xfrm>
          <a:prstGeom prst="straightConnector1">
            <a:avLst/>
          </a:prstGeom>
          <a:solidFill>
            <a:srgbClr val="DEE0E3">
              <a:alpha val="100000"/>
            </a:srgbClr>
          </a:solidFill>
          <a:ln w="12700" cap="flat" cmpd="sng">
            <a:solidFill>
              <a:srgbClr val="4CAF50">
                <a:alpha val="20000"/>
              </a:srgbClr>
            </a:solidFill>
            <a:prstDash val="solid"/>
            <a:round/>
            <a:headEnd type="none" w="med" len="med"/>
            <a:tailEnd type="none" w="med" len="med"/>
          </a:ln>
        </p:spPr>
      </p:cxnSp>
      <p:sp>
        <p:nvSpPr>
          <p:cNvPr id="9" name="AutoShape 9"/>
          <p:cNvSpPr/>
          <p:nvPr/>
        </p:nvSpPr>
        <p:spPr>
          <a:xfrm>
            <a:off x="1066800" y="3429000"/>
            <a:ext cx="45974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55555"/>
                </a:solidFill>
                <a:latin typeface="Noto Sans SC"/>
                <a:ea typeface="Noto Sans SC"/>
                <a:cs typeface="Noto Sans SC"/>
                <a:sym typeface="Noto Sans SC"/>
              </a:rPr>
              <a:t>摒弃传统Session存储模式，采用Token令牌机制实现身份鉴权。服务端无需维护会话状态，大幅降低服务器内存开销；利用非对称加密算法保障传输安全，完美适配微服务架构下的跨域与分布式场景。</a:t>
            </a:r>
            <a:endParaRPr lang="en-US" sz="1100"/>
          </a:p>
        </p:txBody>
      </p:sp>
      <p:sp>
        <p:nvSpPr>
          <p:cNvPr id="10" name="AutoShape 10"/>
          <p:cNvSpPr/>
          <p:nvPr/>
        </p:nvSpPr>
        <p:spPr>
          <a:xfrm>
            <a:off x="1066800" y="4953000"/>
            <a:ext cx="4597400" cy="406400"/>
          </a:xfrm>
          <a:prstGeom prst="roundRect">
            <a:avLst>
              <a:gd name="adj" fmla="val 0"/>
            </a:avLst>
          </a:prstGeom>
          <a:solidFill>
            <a:srgbClr val="4CAF50">
              <a:alpha val="1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193800" y="5029200"/>
            <a:ext cx="43434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4CAF50"/>
                </a:solidFill>
                <a:latin typeface="Noto Sans SC"/>
                <a:ea typeface="Noto Sans SC"/>
                <a:cs typeface="Noto Sans SC"/>
                <a:sym typeface="Noto Sans SC"/>
              </a:rPr>
              <a:t>核心优势：</a:t>
            </a:r>
            <a:r>
              <a:rPr lang="en-US" sz="1300" b="0" i="0" u="none" strike="noStrike">
                <a:solidFill>
                  <a:srgbClr val="646464"/>
                </a:solidFill>
                <a:latin typeface="Noto Sans SC"/>
                <a:ea typeface="Noto Sans SC"/>
                <a:cs typeface="Noto Sans SC"/>
                <a:sym typeface="Noto Sans SC"/>
              </a:rPr>
              <a:t>高并发支撑 · 跨域无缝衔接 · 状态解耦</a:t>
            </a:r>
            <a:endParaRPr lang="en-US" sz="1100"/>
          </a:p>
        </p:txBody>
      </p:sp>
      <p:sp>
        <p:nvSpPr>
          <p:cNvPr id="12" name="AutoShape 12"/>
          <p:cNvSpPr/>
          <p:nvPr/>
        </p:nvSpPr>
        <p:spPr>
          <a:xfrm>
            <a:off x="6223000" y="2286000"/>
            <a:ext cx="5207000" cy="3302000"/>
          </a:xfrm>
          <a:prstGeom prst="roundRect">
            <a:avLst>
              <a:gd name="adj" fmla="val 0"/>
            </a:avLst>
          </a:prstGeom>
          <a:solidFill>
            <a:srgbClr val="FFFFFF">
              <a:alpha val="65000"/>
            </a:srgbClr>
          </a:solidFill>
          <a:ln w="12700" cap="flat" cmpd="sng">
            <a:solidFill>
              <a:srgbClr val="4CAF50">
                <a:alpha val="2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6223000" y="2286000"/>
            <a:ext cx="5207000" cy="508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27800" y="2641600"/>
            <a:ext cx="406400" cy="406400"/>
          </a:xfrm>
          <a:prstGeom prst="rect">
            <a:avLst/>
          </a:prstGeom>
        </p:spPr>
      </p:pic>
      <p:sp>
        <p:nvSpPr>
          <p:cNvPr id="15" name="AutoShape 15"/>
          <p:cNvSpPr/>
          <p:nvPr/>
        </p:nvSpPr>
        <p:spPr>
          <a:xfrm>
            <a:off x="7061200" y="2616200"/>
            <a:ext cx="4064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CAF50"/>
                </a:solidFill>
                <a:latin typeface="Noto Sans SC"/>
                <a:ea typeface="Noto Sans SC"/>
                <a:cs typeface="Noto Sans SC"/>
                <a:sym typeface="Noto Sans SC"/>
              </a:rPr>
              <a:t>RBAC 细粒度权限管控模型</a:t>
            </a:r>
            <a:endParaRPr lang="en-US" sz="1100"/>
          </a:p>
        </p:txBody>
      </p:sp>
      <p:cxnSp>
        <p:nvCxnSpPr>
          <p:cNvPr id="16" name="Connector 16"/>
          <p:cNvCxnSpPr/>
          <p:nvPr/>
        </p:nvCxnSpPr>
        <p:spPr>
          <a:xfrm rot="-9496">
            <a:off x="6527809" y="3232150"/>
            <a:ext cx="4597400" cy="12700"/>
          </a:xfrm>
          <a:prstGeom prst="straightConnector1">
            <a:avLst/>
          </a:prstGeom>
          <a:solidFill>
            <a:srgbClr val="DEE0E3">
              <a:alpha val="100000"/>
            </a:srgbClr>
          </a:solidFill>
          <a:ln w="12700" cap="flat" cmpd="sng">
            <a:solidFill>
              <a:srgbClr val="4CAF50">
                <a:alpha val="20000"/>
              </a:srgbClr>
            </a:solidFill>
            <a:prstDash val="solid"/>
            <a:round/>
            <a:headEnd type="none" w="med" len="med"/>
            <a:tailEnd type="none" w="med" len="med"/>
          </a:ln>
        </p:spPr>
      </p:cxnSp>
      <p:sp>
        <p:nvSpPr>
          <p:cNvPr id="17" name="AutoShape 17"/>
          <p:cNvSpPr/>
          <p:nvPr/>
        </p:nvSpPr>
        <p:spPr>
          <a:xfrm>
            <a:off x="6527800" y="3429000"/>
            <a:ext cx="45974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55555"/>
                </a:solidFill>
                <a:latin typeface="Noto Sans SC"/>
                <a:ea typeface="Noto Sans SC"/>
                <a:cs typeface="Noto Sans SC"/>
                <a:sym typeface="Noto Sans SC"/>
              </a:rPr>
              <a:t>构建“用户-角色-权限”三层映射架构，实现从菜单、按钮到接口数据的多维权限隔离。支持动态角色配置与权限继承，满足企业级系统中复杂的组织架构与业务场景的差异化访问控制需求。</a:t>
            </a:r>
            <a:endParaRPr lang="en-US" sz="1100"/>
          </a:p>
        </p:txBody>
      </p:sp>
      <p:sp>
        <p:nvSpPr>
          <p:cNvPr id="18" name="AutoShape 18"/>
          <p:cNvSpPr/>
          <p:nvPr/>
        </p:nvSpPr>
        <p:spPr>
          <a:xfrm>
            <a:off x="6527800" y="4953000"/>
            <a:ext cx="4597400" cy="406400"/>
          </a:xfrm>
          <a:prstGeom prst="roundRect">
            <a:avLst>
              <a:gd name="adj" fmla="val 0"/>
            </a:avLst>
          </a:prstGeom>
          <a:solidFill>
            <a:srgbClr val="4CAF50">
              <a:alpha val="1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6654800" y="5029200"/>
            <a:ext cx="43434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4CAF50"/>
                </a:solidFill>
                <a:latin typeface="Noto Sans SC"/>
                <a:ea typeface="Noto Sans SC"/>
                <a:cs typeface="Noto Sans SC"/>
                <a:sym typeface="Noto Sans SC"/>
              </a:rPr>
              <a:t>核心优势：</a:t>
            </a:r>
            <a:r>
              <a:rPr lang="en-US" sz="1300" b="0" i="0" u="none" strike="noStrike">
                <a:solidFill>
                  <a:srgbClr val="646464"/>
                </a:solidFill>
                <a:latin typeface="Noto Sans SC"/>
                <a:ea typeface="Noto Sans SC"/>
                <a:cs typeface="Noto Sans SC"/>
                <a:sym typeface="Noto Sans SC"/>
              </a:rPr>
              <a:t>权限动态配置 · 数据级隔离 · 架构可扩展</a:t>
            </a:r>
            <a:endParaRPr lang="en-US" sz="1100"/>
          </a:p>
        </p:txBody>
      </p:sp>
      <p:sp>
        <p:nvSpPr>
          <p:cNvPr id="20" name="AutoShape 20"/>
          <p:cNvSpPr/>
          <p:nvPr/>
        </p:nvSpPr>
        <p:spPr>
          <a:xfrm>
            <a:off x="762000" y="5842000"/>
            <a:ext cx="1066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400" b="0" i="0" u="none" strike="noStrike">
                <a:solidFill>
                  <a:srgbClr val="333333">
                    <a:alpha val="74902"/>
                  </a:srgbClr>
                </a:solidFill>
                <a:latin typeface="Noto Sans SC"/>
                <a:ea typeface="Noto Sans SC"/>
                <a:cs typeface="Noto Sans SC"/>
                <a:sym typeface="Noto Sans SC"/>
              </a:rPr>
              <a:t>通过底层手工编码重构，不仅解决了传统权限认证的性能瓶颈，更打造了一套高可用、易扩展的安全基石，为上层业务的快速迭代与规模化增长提供了坚实的技术保障。</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核心成果一：JWT登录认证实现</a:t>
            </a:r>
            <a:endParaRPr lang="en-US" sz="1100"/>
          </a:p>
        </p:txBody>
      </p:sp>
      <p:sp>
        <p:nvSpPr>
          <p:cNvPr id="4" name="AutoShape 4"/>
          <p:cNvSpPr/>
          <p:nvPr/>
        </p:nvSpPr>
        <p:spPr>
          <a:xfrm>
            <a:off x="762000" y="1524000"/>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CAF50"/>
                </a:solidFill>
                <a:latin typeface="Noto Sans SC"/>
                <a:ea typeface="Noto Sans SC"/>
                <a:cs typeface="Noto Sans SC"/>
                <a:sym typeface="Noto Sans SC"/>
              </a:rPr>
              <a:t>01 认证流程闭环</a:t>
            </a:r>
            <a:endParaRPr lang="en-US" sz="1100"/>
          </a:p>
        </p:txBody>
      </p:sp>
      <p:sp>
        <p:nvSpPr>
          <p:cNvPr id="5" name="AutoShape 5"/>
          <p:cNvSpPr/>
          <p:nvPr/>
        </p:nvSpPr>
        <p:spPr>
          <a:xfrm>
            <a:off x="762000" y="2159000"/>
            <a:ext cx="2476500" cy="1079500"/>
          </a:xfrm>
          <a:prstGeom prst="roundRect">
            <a:avLst>
              <a:gd name="adj" fmla="val 0"/>
            </a:avLst>
          </a:prstGeom>
          <a:solidFill>
            <a:srgbClr val="FFFFFF">
              <a:alpha val="60000"/>
            </a:srgbClr>
          </a:solidFill>
          <a:ln w="12700" cap="flat" cmpd="sng">
            <a:solidFill>
              <a:srgbClr val="4CAF50">
                <a:alpha val="3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4400" y="2311400"/>
            <a:ext cx="304800" cy="304800"/>
          </a:xfrm>
          <a:prstGeom prst="rect">
            <a:avLst/>
          </a:prstGeom>
        </p:spPr>
      </p:pic>
      <p:sp>
        <p:nvSpPr>
          <p:cNvPr id="7" name="AutoShape 7"/>
          <p:cNvSpPr/>
          <p:nvPr/>
        </p:nvSpPr>
        <p:spPr>
          <a:xfrm>
            <a:off x="1270000" y="2286000"/>
            <a:ext cx="196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33333"/>
                </a:solidFill>
                <a:latin typeface="Noto Sans SC"/>
                <a:ea typeface="Noto Sans SC"/>
                <a:cs typeface="Noto Sans SC"/>
                <a:sym typeface="Noto Sans SC"/>
              </a:rPr>
              <a:t>1. 用户登录提交</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666666"/>
                </a:solidFill>
                <a:latin typeface="Noto Sans SC"/>
                <a:ea typeface="Noto Sans SC"/>
                <a:cs typeface="Noto Sans SC"/>
                <a:sym typeface="Noto Sans SC"/>
              </a:rPr>
              <a:t>前端收集账号密码，发起认证请求</a:t>
            </a:r>
            <a:endParaRPr lang="en-US" sz="1100"/>
          </a:p>
        </p:txBody>
      </p:sp>
      <p:sp>
        <p:nvSpPr>
          <p:cNvPr id="8" name="AutoShape 8"/>
          <p:cNvSpPr/>
          <p:nvPr/>
        </p:nvSpPr>
        <p:spPr>
          <a:xfrm>
            <a:off x="3492500" y="2159000"/>
            <a:ext cx="2476500" cy="1079500"/>
          </a:xfrm>
          <a:prstGeom prst="roundRect">
            <a:avLst>
              <a:gd name="adj" fmla="val 0"/>
            </a:avLst>
          </a:prstGeom>
          <a:solidFill>
            <a:srgbClr val="FFFFFF">
              <a:alpha val="60000"/>
            </a:srgbClr>
          </a:solidFill>
          <a:ln w="12700" cap="flat" cmpd="sng">
            <a:solidFill>
              <a:srgbClr val="4CAF50">
                <a:alpha val="3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44900" y="2311400"/>
            <a:ext cx="304800" cy="304800"/>
          </a:xfrm>
          <a:prstGeom prst="rect">
            <a:avLst/>
          </a:prstGeom>
        </p:spPr>
      </p:pic>
      <p:sp>
        <p:nvSpPr>
          <p:cNvPr id="10" name="AutoShape 10"/>
          <p:cNvSpPr/>
          <p:nvPr/>
        </p:nvSpPr>
        <p:spPr>
          <a:xfrm>
            <a:off x="4000500" y="2286000"/>
            <a:ext cx="196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33333"/>
                </a:solidFill>
                <a:latin typeface="Noto Sans SC"/>
                <a:ea typeface="Noto Sans SC"/>
                <a:cs typeface="Noto Sans SC"/>
                <a:sym typeface="Noto Sans SC"/>
              </a:rPr>
              <a:t>2. 身份信息核验</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666666"/>
                </a:solidFill>
                <a:latin typeface="Noto Sans SC"/>
                <a:ea typeface="Noto Sans SC"/>
                <a:cs typeface="Noto Sans SC"/>
                <a:sym typeface="Noto Sans SC"/>
              </a:rPr>
              <a:t>Spring Security 校验账号密码有效性</a:t>
            </a:r>
            <a:endParaRPr lang="en-US" sz="1100"/>
          </a:p>
        </p:txBody>
      </p:sp>
      <p:sp>
        <p:nvSpPr>
          <p:cNvPr id="11" name="AutoShape 11"/>
          <p:cNvSpPr/>
          <p:nvPr/>
        </p:nvSpPr>
        <p:spPr>
          <a:xfrm>
            <a:off x="762000" y="3429000"/>
            <a:ext cx="2476500" cy="1079500"/>
          </a:xfrm>
          <a:prstGeom prst="roundRect">
            <a:avLst>
              <a:gd name="adj" fmla="val 0"/>
            </a:avLst>
          </a:prstGeom>
          <a:solidFill>
            <a:srgbClr val="FFFFFF">
              <a:alpha val="60000"/>
            </a:srgbClr>
          </a:solidFill>
          <a:ln w="12700" cap="flat" cmpd="sng">
            <a:solidFill>
              <a:srgbClr val="4CAF50">
                <a:alpha val="3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3581400"/>
            <a:ext cx="304800" cy="304800"/>
          </a:xfrm>
          <a:prstGeom prst="rect">
            <a:avLst/>
          </a:prstGeom>
        </p:spPr>
      </p:pic>
      <p:sp>
        <p:nvSpPr>
          <p:cNvPr id="13" name="AutoShape 13"/>
          <p:cNvSpPr/>
          <p:nvPr/>
        </p:nvSpPr>
        <p:spPr>
          <a:xfrm>
            <a:off x="1270000" y="3556000"/>
            <a:ext cx="196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33333"/>
                </a:solidFill>
                <a:latin typeface="Noto Sans SC"/>
                <a:ea typeface="Noto Sans SC"/>
                <a:cs typeface="Noto Sans SC"/>
                <a:sym typeface="Noto Sans SC"/>
              </a:rPr>
              <a:t>3. 签发JWT Token</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666666"/>
                </a:solidFill>
                <a:latin typeface="Noto Sans SC"/>
                <a:ea typeface="Noto Sans SC"/>
                <a:cs typeface="Noto Sans SC"/>
                <a:sym typeface="Noto Sans SC"/>
              </a:rPr>
              <a:t>封装用户信息与权限，生成加密令牌</a:t>
            </a:r>
            <a:endParaRPr lang="en-US" sz="1100"/>
          </a:p>
        </p:txBody>
      </p:sp>
      <p:sp>
        <p:nvSpPr>
          <p:cNvPr id="14" name="AutoShape 14"/>
          <p:cNvSpPr/>
          <p:nvPr/>
        </p:nvSpPr>
        <p:spPr>
          <a:xfrm>
            <a:off x="3492500" y="3429000"/>
            <a:ext cx="2476500" cy="1079500"/>
          </a:xfrm>
          <a:prstGeom prst="roundRect">
            <a:avLst>
              <a:gd name="adj" fmla="val 0"/>
            </a:avLst>
          </a:prstGeom>
          <a:solidFill>
            <a:srgbClr val="FFFFFF">
              <a:alpha val="60000"/>
            </a:srgbClr>
          </a:solidFill>
          <a:ln w="12700" cap="flat" cmpd="sng">
            <a:solidFill>
              <a:srgbClr val="4CAF50">
                <a:alpha val="3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644900" y="3581400"/>
            <a:ext cx="304800" cy="304800"/>
          </a:xfrm>
          <a:prstGeom prst="rect">
            <a:avLst/>
          </a:prstGeom>
        </p:spPr>
      </p:pic>
      <p:sp>
        <p:nvSpPr>
          <p:cNvPr id="16" name="AutoShape 16"/>
          <p:cNvSpPr/>
          <p:nvPr/>
        </p:nvSpPr>
        <p:spPr>
          <a:xfrm>
            <a:off x="4000500" y="3556000"/>
            <a:ext cx="196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33333"/>
                </a:solidFill>
                <a:latin typeface="Noto Sans SC"/>
                <a:ea typeface="Noto Sans SC"/>
                <a:cs typeface="Noto Sans SC"/>
                <a:sym typeface="Noto Sans SC"/>
              </a:rPr>
              <a:t>4. 前端存储Token</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666666"/>
                </a:solidFill>
                <a:latin typeface="Noto Sans SC"/>
                <a:ea typeface="Noto Sans SC"/>
                <a:cs typeface="Noto Sans SC"/>
                <a:sym typeface="Noto Sans SC"/>
              </a:rPr>
              <a:t>存入localStorage，保持会话状态</a:t>
            </a:r>
            <a:endParaRPr lang="en-US" sz="1100"/>
          </a:p>
        </p:txBody>
      </p:sp>
      <p:sp>
        <p:nvSpPr>
          <p:cNvPr id="17" name="AutoShape 17"/>
          <p:cNvSpPr/>
          <p:nvPr/>
        </p:nvSpPr>
        <p:spPr>
          <a:xfrm>
            <a:off x="762000" y="4699000"/>
            <a:ext cx="2476500" cy="1079500"/>
          </a:xfrm>
          <a:prstGeom prst="roundRect">
            <a:avLst>
              <a:gd name="adj" fmla="val 0"/>
            </a:avLst>
          </a:prstGeom>
          <a:solidFill>
            <a:srgbClr val="FFFFFF">
              <a:alpha val="60000"/>
            </a:srgbClr>
          </a:solidFill>
          <a:ln w="12700" cap="flat" cmpd="sng">
            <a:solidFill>
              <a:srgbClr val="4CAF50">
                <a:alpha val="30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14400" y="4851400"/>
            <a:ext cx="304800" cy="304800"/>
          </a:xfrm>
          <a:prstGeom prst="rect">
            <a:avLst/>
          </a:prstGeom>
        </p:spPr>
      </p:pic>
      <p:sp>
        <p:nvSpPr>
          <p:cNvPr id="19" name="AutoShape 19"/>
          <p:cNvSpPr/>
          <p:nvPr/>
        </p:nvSpPr>
        <p:spPr>
          <a:xfrm>
            <a:off x="1270000" y="4826000"/>
            <a:ext cx="196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33333"/>
                </a:solidFill>
                <a:latin typeface="Noto Sans SC"/>
                <a:ea typeface="Noto Sans SC"/>
                <a:cs typeface="Noto Sans SC"/>
                <a:sym typeface="Noto Sans SC"/>
              </a:rPr>
              <a:t>5. 请求携带凭证</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666666"/>
                </a:solidFill>
                <a:latin typeface="Noto Sans SC"/>
                <a:ea typeface="Noto Sans SC"/>
                <a:cs typeface="Noto Sans SC"/>
                <a:sym typeface="Noto Sans SC"/>
              </a:rPr>
              <a:t>Header中携带Bearer Token发起请求</a:t>
            </a:r>
            <a:endParaRPr lang="en-US" sz="1100"/>
          </a:p>
        </p:txBody>
      </p:sp>
      <p:sp>
        <p:nvSpPr>
          <p:cNvPr id="20" name="AutoShape 20"/>
          <p:cNvSpPr/>
          <p:nvPr/>
        </p:nvSpPr>
        <p:spPr>
          <a:xfrm>
            <a:off x="3492500" y="4699000"/>
            <a:ext cx="2476500" cy="1079500"/>
          </a:xfrm>
          <a:prstGeom prst="roundRect">
            <a:avLst>
              <a:gd name="adj" fmla="val 0"/>
            </a:avLst>
          </a:prstGeom>
          <a:solidFill>
            <a:srgbClr val="FFFFFF">
              <a:alpha val="60000"/>
            </a:srgbClr>
          </a:solidFill>
          <a:ln w="12700" cap="flat" cmpd="sng">
            <a:solidFill>
              <a:srgbClr val="4CAF50">
                <a:alpha val="30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644900" y="4851400"/>
            <a:ext cx="304800" cy="304800"/>
          </a:xfrm>
          <a:prstGeom prst="rect">
            <a:avLst/>
          </a:prstGeom>
        </p:spPr>
      </p:pic>
      <p:sp>
        <p:nvSpPr>
          <p:cNvPr id="22" name="AutoShape 22"/>
          <p:cNvSpPr/>
          <p:nvPr/>
        </p:nvSpPr>
        <p:spPr>
          <a:xfrm>
            <a:off x="4000500" y="4826000"/>
            <a:ext cx="196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33333"/>
                </a:solidFill>
                <a:latin typeface="Noto Sans SC"/>
                <a:ea typeface="Noto Sans SC"/>
                <a:cs typeface="Noto Sans SC"/>
                <a:sym typeface="Noto Sans SC"/>
              </a:rPr>
              <a:t>6. 拦截器校验与解析</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666666"/>
                </a:solidFill>
                <a:latin typeface="Noto Sans SC"/>
                <a:ea typeface="Noto Sans SC"/>
                <a:cs typeface="Noto Sans SC"/>
                <a:sym typeface="Noto Sans SC"/>
              </a:rPr>
              <a:t>验证有效性并解析信息，供业务使用</a:t>
            </a:r>
            <a:endParaRPr lang="en-US" sz="1100"/>
          </a:p>
        </p:txBody>
      </p:sp>
      <p:sp>
        <p:nvSpPr>
          <p:cNvPr id="23" name="AutoShape 23"/>
          <p:cNvSpPr/>
          <p:nvPr/>
        </p:nvSpPr>
        <p:spPr>
          <a:xfrm>
            <a:off x="6350000" y="1524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CAF50"/>
                </a:solidFill>
                <a:latin typeface="Noto Sans SC"/>
                <a:ea typeface="Noto Sans SC"/>
                <a:cs typeface="Noto Sans SC"/>
                <a:sym typeface="Noto Sans SC"/>
              </a:rPr>
              <a:t>02 核心实现代码 (Java)</a:t>
            </a:r>
            <a:endParaRPr lang="en-US" sz="1100"/>
          </a:p>
        </p:txBody>
      </p:sp>
      <p:sp>
        <p:nvSpPr>
          <p:cNvPr id="26" name="AutoShape 26"/>
          <p:cNvSpPr/>
          <p:nvPr/>
        </p:nvSpPr>
        <p:spPr>
          <a:xfrm>
            <a:off x="6226764" y="5524500"/>
            <a:ext cx="5604010" cy="889000"/>
          </a:xfrm>
          <a:prstGeom prst="roundRect">
            <a:avLst>
              <a:gd name="adj" fmla="val 0"/>
            </a:avLst>
          </a:prstGeom>
          <a:solidFill>
            <a:srgbClr val="4CAF50">
              <a:alpha val="10000"/>
            </a:srgbClr>
          </a:solidFill>
          <a:ln w="12700" cap="flat" cmpd="sng">
            <a:solidFill>
              <a:srgbClr val="4CAF50">
                <a:alpha val="30000"/>
              </a:srgbClr>
            </a:solidFill>
            <a:prstDash val="solid"/>
            <a:round/>
          </a:ln>
        </p:spPr>
        <p:txBody>
          <a:bodyPr vert="horz" wrap="square" lIns="63500" tIns="63500" rIns="63500" bIns="63500" rtlCol="0" anchor="ctr"/>
          <a:lstStyle/>
          <a:p>
            <a:pPr algn="ctr">
              <a:defRPr/>
            </a:pPr>
          </a:p>
        </p:txBody>
      </p:sp>
      <p:sp>
        <p:nvSpPr>
          <p:cNvPr id="27" name="AutoShape 27"/>
          <p:cNvSpPr/>
          <p:nvPr/>
        </p:nvSpPr>
        <p:spPr>
          <a:xfrm>
            <a:off x="6350000" y="5651500"/>
            <a:ext cx="5363597"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4CAF50"/>
                </a:solidFill>
                <a:latin typeface="Noto Sans SC"/>
                <a:ea typeface="Noto Sans SC"/>
                <a:cs typeface="Noto Sans SC"/>
                <a:sym typeface="Noto Sans SC"/>
              </a:rPr>
              <a:t>✨ 设计优势：</a:t>
            </a:r>
            <a:r>
              <a:rPr lang="en-US" sz="1300" b="0" i="0" u="none" strike="noStrike">
                <a:solidFill>
                  <a:srgbClr val="555555"/>
                </a:solidFill>
                <a:latin typeface="Noto Sans SC"/>
                <a:ea typeface="Noto Sans SC"/>
                <a:cs typeface="Noto Sans SC"/>
                <a:sym typeface="Noto Sans SC"/>
              </a:rPr>
              <a:t>采用无状态设计，服务端不存储会话，消除了单点故障风险，支持系统水平扩展；Token自包含用户信息，减少了数据库查询开销，显著提升性能。</a:t>
            </a:r>
            <a:endParaRPr lang="en-US" sz="1100"/>
          </a:p>
        </p:txBody>
      </p:sp>
      <p:pic>
        <p:nvPicPr>
          <p:cNvPr id="28" name="图片 27" descr="post_object_image_3932006143"/>
          <p:cNvPicPr>
            <a:picLocks noChangeAspect="1"/>
          </p:cNvPicPr>
          <p:nvPr/>
        </p:nvPicPr>
        <p:blipFill>
          <a:blip r:embed="rId14"/>
          <a:stretch>
            <a:fillRect/>
          </a:stretch>
        </p:blipFill>
        <p:spPr>
          <a:xfrm>
            <a:off x="6226816" y="2158948"/>
            <a:ext cx="5603997" cy="3234736"/>
          </a:xfrm>
          <a:prstGeom prst="rect">
            <a:avLst/>
          </a:prstGeom>
        </p:spPr>
      </p:pic>
      <p:pic>
        <p:nvPicPr>
          <p:cNvPr id="24" name="图片 23" descr="post_object_image_1654881690"/>
          <p:cNvPicPr>
            <a:picLocks noChangeAspect="1"/>
          </p:cNvPicPr>
          <p:nvPr/>
        </p:nvPicPr>
        <p:blipFill>
          <a:blip r:embed="rId15"/>
          <a:stretch>
            <a:fillRect/>
          </a:stretch>
        </p:blipFill>
        <p:spPr>
          <a:xfrm>
            <a:off x="6293445" y="2131032"/>
            <a:ext cx="5470518" cy="320550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p:tgtEl>
                                          <p:spTgt spid="24"/>
                                        </p:tgtEl>
                                        <p:attrNameLst>
                                          <p:attrName>ppt_y</p:attrName>
                                        </p:attrNameLst>
                                      </p:cBhvr>
                                      <p:tavLst>
                                        <p:tav tm="0">
                                          <p:val>
                                            <p:strVal val="#ppt_y+#ppt_h*1.125000"/>
                                          </p:val>
                                        </p:tav>
                                        <p:tav tm="100000">
                                          <p:val>
                                            <p:strVal val="#ppt_y"/>
                                          </p:val>
                                        </p:tav>
                                      </p:tavLst>
                                    </p:anim>
                                    <p:animEffect transition="in" filter="wipe(up)">
                                      <p:cBhvr>
                                        <p:cTn id="8"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核心成果二：基于RBAC的权限控制</a:t>
            </a:r>
            <a:endParaRPr lang="en-US" sz="1100"/>
          </a:p>
        </p:txBody>
      </p:sp>
      <p:sp>
        <p:nvSpPr>
          <p:cNvPr id="4" name="AutoShape 4"/>
          <p:cNvSpPr/>
          <p:nvPr/>
        </p:nvSpPr>
        <p:spPr>
          <a:xfrm>
            <a:off x="762000" y="1524000"/>
            <a:ext cx="3429000" cy="1778000"/>
          </a:xfrm>
          <a:prstGeom prst="roundRect">
            <a:avLst>
              <a:gd name="adj" fmla="val 0"/>
            </a:avLst>
          </a:prstGeom>
          <a:solidFill>
            <a:srgbClr val="FFFFFF">
              <a:alpha val="65000"/>
            </a:srgbClr>
          </a:solidFill>
          <a:ln w="12700" cap="flat" cmpd="sng">
            <a:solidFill>
              <a:srgbClr val="4CAF50">
                <a:alpha val="3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714500"/>
            <a:ext cx="304800" cy="304800"/>
          </a:xfrm>
          <a:prstGeom prst="rect">
            <a:avLst/>
          </a:prstGeom>
        </p:spPr>
      </p:pic>
      <p:sp>
        <p:nvSpPr>
          <p:cNvPr id="6" name="AutoShape 6"/>
          <p:cNvSpPr/>
          <p:nvPr/>
        </p:nvSpPr>
        <p:spPr>
          <a:xfrm>
            <a:off x="1422400" y="1689100"/>
            <a:ext cx="266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CAF50"/>
                </a:solidFill>
                <a:latin typeface="Noto Sans SC"/>
                <a:ea typeface="Noto Sans SC"/>
                <a:cs typeface="Noto Sans SC"/>
                <a:sym typeface="Noto Sans SC"/>
              </a:rPr>
              <a:t>01 数据层：三权分立</a:t>
            </a:r>
            <a:endParaRPr lang="en-US" sz="1100"/>
          </a:p>
        </p:txBody>
      </p:sp>
      <p:sp>
        <p:nvSpPr>
          <p:cNvPr id="7" name="AutoShape 7"/>
          <p:cNvSpPr/>
          <p:nvPr/>
        </p:nvSpPr>
        <p:spPr>
          <a:xfrm>
            <a:off x="1016000" y="2184400"/>
            <a:ext cx="2921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Noto Sans SC"/>
                <a:ea typeface="Noto Sans SC"/>
                <a:cs typeface="Noto Sans SC"/>
                <a:sym typeface="Noto Sans SC"/>
              </a:rPr>
              <a:t>构建用户、角色、权限三张核心表，通过关联表实现灵活的多对多映射，为权限管控提供坚实的数据基础。</a:t>
            </a:r>
            <a:endParaRPr lang="en-US" sz="1100"/>
          </a:p>
        </p:txBody>
      </p:sp>
      <p:sp>
        <p:nvSpPr>
          <p:cNvPr id="8" name="AutoShape 8"/>
          <p:cNvSpPr/>
          <p:nvPr/>
        </p:nvSpPr>
        <p:spPr>
          <a:xfrm>
            <a:off x="4381500" y="1524000"/>
            <a:ext cx="3429000" cy="1778000"/>
          </a:xfrm>
          <a:prstGeom prst="roundRect">
            <a:avLst>
              <a:gd name="adj" fmla="val 0"/>
            </a:avLst>
          </a:prstGeom>
          <a:solidFill>
            <a:srgbClr val="FFFFFF">
              <a:alpha val="65000"/>
            </a:srgbClr>
          </a:solidFill>
          <a:ln w="12700" cap="flat" cmpd="sng">
            <a:solidFill>
              <a:srgbClr val="4CAF50">
                <a:alpha val="3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500" y="1714500"/>
            <a:ext cx="304800" cy="304800"/>
          </a:xfrm>
          <a:prstGeom prst="rect">
            <a:avLst/>
          </a:prstGeom>
        </p:spPr>
      </p:pic>
      <p:sp>
        <p:nvSpPr>
          <p:cNvPr id="10" name="AutoShape 10"/>
          <p:cNvSpPr/>
          <p:nvPr/>
        </p:nvSpPr>
        <p:spPr>
          <a:xfrm>
            <a:off x="5041900" y="1689100"/>
            <a:ext cx="266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CAF50"/>
                </a:solidFill>
                <a:latin typeface="Noto Sans SC"/>
                <a:ea typeface="Noto Sans SC"/>
                <a:cs typeface="Noto Sans SC"/>
                <a:sym typeface="Noto Sans SC"/>
              </a:rPr>
              <a:t>02 认证层：身份核验</a:t>
            </a:r>
            <a:endParaRPr lang="en-US" sz="1100"/>
          </a:p>
        </p:txBody>
      </p:sp>
      <p:sp>
        <p:nvSpPr>
          <p:cNvPr id="11" name="AutoShape 11"/>
          <p:cNvSpPr/>
          <p:nvPr/>
        </p:nvSpPr>
        <p:spPr>
          <a:xfrm>
            <a:off x="4635500" y="2184400"/>
            <a:ext cx="2921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Noto Sans SC"/>
                <a:ea typeface="Noto Sans SC"/>
                <a:cs typeface="Noto Sans SC"/>
                <a:sym typeface="Noto Sans SC"/>
              </a:rPr>
              <a:t>基于Token机制校验用户身份，登录后自动解析并关联用户所属角色信息，完成用户态与权限集的实时绑定。</a:t>
            </a:r>
            <a:endParaRPr lang="en-US" sz="1100"/>
          </a:p>
        </p:txBody>
      </p:sp>
      <p:sp>
        <p:nvSpPr>
          <p:cNvPr id="12" name="AutoShape 12"/>
          <p:cNvSpPr/>
          <p:nvPr/>
        </p:nvSpPr>
        <p:spPr>
          <a:xfrm>
            <a:off x="8001000" y="1524000"/>
            <a:ext cx="3429000" cy="1778000"/>
          </a:xfrm>
          <a:prstGeom prst="roundRect">
            <a:avLst>
              <a:gd name="adj" fmla="val 0"/>
            </a:avLst>
          </a:prstGeom>
          <a:solidFill>
            <a:srgbClr val="FFFFFF">
              <a:alpha val="65000"/>
            </a:srgbClr>
          </a:solidFill>
          <a:ln w="12700" cap="flat" cmpd="sng">
            <a:solidFill>
              <a:srgbClr val="4CAF50">
                <a:alpha val="3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55000" y="1714500"/>
            <a:ext cx="304800" cy="304800"/>
          </a:xfrm>
          <a:prstGeom prst="rect">
            <a:avLst/>
          </a:prstGeom>
        </p:spPr>
      </p:pic>
      <p:sp>
        <p:nvSpPr>
          <p:cNvPr id="14" name="AutoShape 14"/>
          <p:cNvSpPr/>
          <p:nvPr/>
        </p:nvSpPr>
        <p:spPr>
          <a:xfrm>
            <a:off x="8661400" y="1689100"/>
            <a:ext cx="266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CAF50"/>
                </a:solidFill>
                <a:latin typeface="Noto Sans SC"/>
                <a:ea typeface="Noto Sans SC"/>
                <a:cs typeface="Noto Sans SC"/>
                <a:sym typeface="Noto Sans SC"/>
              </a:rPr>
              <a:t>03 授权层：动态管控</a:t>
            </a:r>
            <a:endParaRPr lang="en-US" sz="1100"/>
          </a:p>
        </p:txBody>
      </p:sp>
      <p:sp>
        <p:nvSpPr>
          <p:cNvPr id="15" name="AutoShape 15"/>
          <p:cNvSpPr/>
          <p:nvPr/>
        </p:nvSpPr>
        <p:spPr>
          <a:xfrm>
            <a:off x="8255000" y="2184400"/>
            <a:ext cx="2921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Noto Sans SC"/>
                <a:ea typeface="Noto Sans SC"/>
                <a:cs typeface="Noto Sans SC"/>
                <a:sym typeface="Noto Sans SC"/>
              </a:rPr>
              <a:t>后端通过注解拦截非法接口请求，前端根据权限列表动态生成路由表，实现界面元素与功能入口的精准控制。</a:t>
            </a:r>
            <a:endParaRPr lang="en-US" sz="1100"/>
          </a:p>
        </p:txBody>
      </p:sp>
      <p:pic>
        <p:nvPicPr>
          <p:cNvPr id="27" name="图片 26" descr="post_object_image_1438297419"/>
          <p:cNvPicPr>
            <a:picLocks noChangeAspect="1"/>
          </p:cNvPicPr>
          <p:nvPr/>
        </p:nvPicPr>
        <p:blipFill>
          <a:blip r:embed="rId8"/>
          <a:stretch>
            <a:fillRect/>
          </a:stretch>
        </p:blipFill>
        <p:spPr>
          <a:xfrm>
            <a:off x="762027" y="3960275"/>
            <a:ext cx="2209800" cy="1838325"/>
          </a:xfrm>
          <a:prstGeom prst="rect">
            <a:avLst/>
          </a:prstGeom>
        </p:spPr>
      </p:pic>
      <p:pic>
        <p:nvPicPr>
          <p:cNvPr id="26" name="图片 25" descr="post_object_image_870066170"/>
          <p:cNvPicPr>
            <a:picLocks noChangeAspect="1"/>
          </p:cNvPicPr>
          <p:nvPr/>
        </p:nvPicPr>
        <p:blipFill>
          <a:blip r:embed="rId9"/>
          <a:stretch>
            <a:fillRect/>
          </a:stretch>
        </p:blipFill>
        <p:spPr>
          <a:xfrm>
            <a:off x="2694068" y="3438834"/>
            <a:ext cx="7141173" cy="3307574"/>
          </a:xfrm>
          <a:prstGeom prst="rect">
            <a:avLst/>
          </a:prstGeom>
        </p:spPr>
      </p:pic>
      <p:pic>
        <p:nvPicPr>
          <p:cNvPr id="29" name="图片 28" descr="post_object_image_143928364"/>
          <p:cNvPicPr>
            <a:picLocks noChangeAspect="1"/>
          </p:cNvPicPr>
          <p:nvPr/>
        </p:nvPicPr>
        <p:blipFill>
          <a:blip r:embed="rId10"/>
          <a:stretch>
            <a:fillRect/>
          </a:stretch>
        </p:blipFill>
        <p:spPr>
          <a:xfrm>
            <a:off x="4089415" y="3438770"/>
            <a:ext cx="6672116" cy="3307683"/>
          </a:xfrm>
          <a:prstGeom prst="rect">
            <a:avLst/>
          </a:prstGeom>
        </p:spPr>
      </p:pic>
      <p:pic>
        <p:nvPicPr>
          <p:cNvPr id="30" name="图片 29" descr="post_object_image_3958999582"/>
          <p:cNvPicPr>
            <a:picLocks noChangeAspect="1"/>
          </p:cNvPicPr>
          <p:nvPr/>
        </p:nvPicPr>
        <p:blipFill>
          <a:blip r:embed="rId11"/>
          <a:stretch>
            <a:fillRect/>
          </a:stretch>
        </p:blipFill>
        <p:spPr>
          <a:xfrm>
            <a:off x="5367784" y="3438770"/>
            <a:ext cx="5556616" cy="3307683"/>
          </a:xfrm>
          <a:prstGeom prst="rect">
            <a:avLst/>
          </a:prstGeom>
        </p:spPr>
      </p:pic>
      <p:pic>
        <p:nvPicPr>
          <p:cNvPr id="31" name="图片 30" descr="post_object_image_2035162675"/>
          <p:cNvPicPr>
            <a:picLocks noChangeAspect="1"/>
          </p:cNvPicPr>
          <p:nvPr/>
        </p:nvPicPr>
        <p:blipFill>
          <a:blip r:embed="rId12"/>
          <a:stretch>
            <a:fillRect/>
          </a:stretch>
        </p:blipFill>
        <p:spPr>
          <a:xfrm>
            <a:off x="6694162" y="3438770"/>
            <a:ext cx="4481875" cy="330768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ppt_x"/>
                                          </p:val>
                                        </p:tav>
                                        <p:tav tm="100000">
                                          <p:val>
                                            <p:strVal val="#ppt_x"/>
                                          </p:val>
                                        </p:tav>
                                      </p:tavLst>
                                    </p:anim>
                                    <p:anim calcmode="lin" valueType="num">
                                      <p:cBhvr additive="base">
                                        <p:cTn id="8"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6"/>
                                        </p:tgtEl>
                                        <p:attrNameLst>
                                          <p:attrName>style.visibility</p:attrName>
                                        </p:attrNameLst>
                                      </p:cBhvr>
                                      <p:to>
                                        <p:strVal val="visible"/>
                                      </p:to>
                                    </p:set>
                                    <p:anim calcmode="lin" valueType="num">
                                      <p:cBhvr additive="base">
                                        <p:cTn id="13" dur="500" fill="hold"/>
                                        <p:tgtEl>
                                          <p:spTgt spid="26"/>
                                        </p:tgtEl>
                                        <p:attrNameLst>
                                          <p:attrName>ppt_x</p:attrName>
                                        </p:attrNameLst>
                                      </p:cBhvr>
                                      <p:tavLst>
                                        <p:tav tm="0">
                                          <p:val>
                                            <p:strVal val="#ppt_x"/>
                                          </p:val>
                                        </p:tav>
                                        <p:tav tm="100000">
                                          <p:val>
                                            <p:strVal val="#ppt_x"/>
                                          </p:val>
                                        </p:tav>
                                      </p:tavLst>
                                    </p:anim>
                                    <p:anim calcmode="lin" valueType="num">
                                      <p:cBhvr additive="base">
                                        <p:cTn id="14"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9"/>
                                        </p:tgtEl>
                                        <p:attrNameLst>
                                          <p:attrName>style.visibility</p:attrName>
                                        </p:attrNameLst>
                                      </p:cBhvr>
                                      <p:to>
                                        <p:strVal val="visible"/>
                                      </p:to>
                                    </p:set>
                                    <p:anim calcmode="lin" valueType="num">
                                      <p:cBhvr additive="base">
                                        <p:cTn id="19" dur="500" fill="hold"/>
                                        <p:tgtEl>
                                          <p:spTgt spid="29"/>
                                        </p:tgtEl>
                                        <p:attrNameLst>
                                          <p:attrName>ppt_x</p:attrName>
                                        </p:attrNameLst>
                                      </p:cBhvr>
                                      <p:tavLst>
                                        <p:tav tm="0">
                                          <p:val>
                                            <p:strVal val="#ppt_x"/>
                                          </p:val>
                                        </p:tav>
                                        <p:tav tm="100000">
                                          <p:val>
                                            <p:strVal val="#ppt_x"/>
                                          </p:val>
                                        </p:tav>
                                      </p:tavLst>
                                    </p:anim>
                                    <p:anim calcmode="lin" valueType="num">
                                      <p:cBhvr additive="base">
                                        <p:cTn id="20"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fill="hold"/>
                                        <p:tgtEl>
                                          <p:spTgt spid="30"/>
                                        </p:tgtEl>
                                        <p:attrNameLst>
                                          <p:attrName>ppt_x</p:attrName>
                                        </p:attrNameLst>
                                      </p:cBhvr>
                                      <p:tavLst>
                                        <p:tav tm="0">
                                          <p:val>
                                            <p:strVal val="#ppt_x"/>
                                          </p:val>
                                        </p:tav>
                                        <p:tav tm="100000">
                                          <p:val>
                                            <p:strVal val="#ppt_x"/>
                                          </p:val>
                                        </p:tav>
                                      </p:tavLst>
                                    </p:anim>
                                    <p:anim calcmode="lin" valueType="num">
                                      <p:cBhvr additive="base">
                                        <p:cTn id="26"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1"/>
                                        </p:tgtEl>
                                        <p:attrNameLst>
                                          <p:attrName>style.visibility</p:attrName>
                                        </p:attrNameLst>
                                      </p:cBhvr>
                                      <p:to>
                                        <p:strVal val="visible"/>
                                      </p:to>
                                    </p:set>
                                    <p:anim calcmode="lin" valueType="num">
                                      <p:cBhvr additive="base">
                                        <p:cTn id="31" dur="500" fill="hold"/>
                                        <p:tgtEl>
                                          <p:spTgt spid="31"/>
                                        </p:tgtEl>
                                        <p:attrNameLst>
                                          <p:attrName>ppt_x</p:attrName>
                                        </p:attrNameLst>
                                      </p:cBhvr>
                                      <p:tavLst>
                                        <p:tav tm="0">
                                          <p:val>
                                            <p:strVal val="#ppt_x"/>
                                          </p:val>
                                        </p:tav>
                                        <p:tav tm="100000">
                                          <p:val>
                                            <p:strVal val="#ppt_x"/>
                                          </p:val>
                                        </p:tav>
                                      </p:tavLst>
                                    </p:anim>
                                    <p:anim calcmode="lin" valueType="num">
                                      <p:cBhvr additive="base">
                                        <p:cTn id="32"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04 AI辅助开发实践</a:t>
            </a:r>
            <a:endParaRPr lang="en-US" sz="1100"/>
          </a:p>
        </p:txBody>
      </p:sp>
      <p:sp>
        <p:nvSpPr>
          <p:cNvPr id="4" name="AutoShape 4"/>
          <p:cNvSpPr/>
          <p:nvPr/>
        </p:nvSpPr>
        <p:spPr>
          <a:xfrm>
            <a:off x="762000" y="2286000"/>
            <a:ext cx="3378200" cy="3048000"/>
          </a:xfrm>
          <a:prstGeom prst="roundRect">
            <a:avLst>
              <a:gd name="adj" fmla="val 0"/>
            </a:avLst>
          </a:prstGeom>
          <a:solidFill>
            <a:srgbClr val="FFFFFF">
              <a:alpha val="50000"/>
            </a:srgbClr>
          </a:solidFill>
          <a:ln w="12700" cap="flat" cmpd="sng">
            <a:solidFill>
              <a:srgbClr val="4CAF50">
                <a:alpha val="3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6800" y="2590800"/>
            <a:ext cx="457200" cy="457200"/>
          </a:xfrm>
          <a:prstGeom prst="rect">
            <a:avLst/>
          </a:prstGeom>
        </p:spPr>
      </p:pic>
      <p:sp>
        <p:nvSpPr>
          <p:cNvPr id="6" name="AutoShape 6"/>
          <p:cNvSpPr/>
          <p:nvPr/>
        </p:nvSpPr>
        <p:spPr>
          <a:xfrm>
            <a:off x="1625600" y="2628900"/>
            <a:ext cx="27686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CAF50"/>
                </a:solidFill>
                <a:latin typeface="Noto Sans SC"/>
                <a:ea typeface="Noto Sans SC"/>
                <a:cs typeface="Noto Sans SC"/>
                <a:sym typeface="Noto Sans SC"/>
              </a:rPr>
              <a:t>开发效率跃升</a:t>
            </a:r>
            <a:endParaRPr lang="en-US" sz="1100"/>
          </a:p>
        </p:txBody>
      </p:sp>
      <p:sp>
        <p:nvSpPr>
          <p:cNvPr id="7" name="AutoShape 7"/>
          <p:cNvSpPr/>
          <p:nvPr/>
        </p:nvSpPr>
        <p:spPr>
          <a:xfrm>
            <a:off x="1066800" y="3302000"/>
            <a:ext cx="28702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55555"/>
                </a:solidFill>
                <a:latin typeface="Noto Sans SC"/>
                <a:ea typeface="Noto Sans SC"/>
                <a:cs typeface="Noto Sans SC"/>
                <a:sym typeface="Noto Sans SC"/>
              </a:rPr>
              <a:t>依托AI代码补全、智能纠错与自动化生成能力，将常规编码效率提升40%以上。大幅缩短开发周期，释放研发人力，使其能专注于核心业务逻辑的构建与创新探索。</a:t>
            </a:r>
            <a:endParaRPr lang="en-US" sz="1100"/>
          </a:p>
        </p:txBody>
      </p:sp>
      <p:sp>
        <p:nvSpPr>
          <p:cNvPr id="8" name="AutoShape 8"/>
          <p:cNvSpPr/>
          <p:nvPr/>
        </p:nvSpPr>
        <p:spPr>
          <a:xfrm>
            <a:off x="4394200" y="2286000"/>
            <a:ext cx="3378200" cy="3048000"/>
          </a:xfrm>
          <a:prstGeom prst="roundRect">
            <a:avLst>
              <a:gd name="adj" fmla="val 0"/>
            </a:avLst>
          </a:prstGeom>
          <a:solidFill>
            <a:srgbClr val="FFFFFF">
              <a:alpha val="50000"/>
            </a:srgbClr>
          </a:solidFill>
          <a:ln w="12700" cap="flat" cmpd="sng">
            <a:solidFill>
              <a:srgbClr val="4CAF50">
                <a:alpha val="3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2590800"/>
            <a:ext cx="457200" cy="457200"/>
          </a:xfrm>
          <a:prstGeom prst="rect">
            <a:avLst/>
          </a:prstGeom>
        </p:spPr>
      </p:pic>
      <p:sp>
        <p:nvSpPr>
          <p:cNvPr id="10" name="AutoShape 10"/>
          <p:cNvSpPr/>
          <p:nvPr/>
        </p:nvSpPr>
        <p:spPr>
          <a:xfrm>
            <a:off x="5257800" y="2628900"/>
            <a:ext cx="27686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CAF50"/>
                </a:solidFill>
                <a:latin typeface="Noto Sans SC"/>
                <a:ea typeface="Noto Sans SC"/>
                <a:cs typeface="Noto Sans SC"/>
                <a:sym typeface="Noto Sans SC"/>
              </a:rPr>
              <a:t>研发流程重构</a:t>
            </a:r>
            <a:endParaRPr lang="en-US" sz="1100"/>
          </a:p>
        </p:txBody>
      </p:sp>
      <p:sp>
        <p:nvSpPr>
          <p:cNvPr id="11" name="AutoShape 11"/>
          <p:cNvSpPr/>
          <p:nvPr/>
        </p:nvSpPr>
        <p:spPr>
          <a:xfrm>
            <a:off x="4699000" y="3302000"/>
            <a:ext cx="28702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55555"/>
                </a:solidFill>
                <a:latin typeface="Noto Sans SC"/>
                <a:ea typeface="Noto Sans SC"/>
                <a:cs typeface="Noto Sans SC"/>
                <a:sym typeface="Noto Sans SC"/>
              </a:rPr>
              <a:t>重塑从需求分析到测试交付的全链路，AI辅助需求智能拆解、自动化单元测试生成与代码智能评审，推动研发流程向智能化、标准化的高效闭环演进。</a:t>
            </a:r>
            <a:endParaRPr lang="en-US" sz="1100"/>
          </a:p>
        </p:txBody>
      </p:sp>
      <p:sp>
        <p:nvSpPr>
          <p:cNvPr id="12" name="AutoShape 12"/>
          <p:cNvSpPr/>
          <p:nvPr/>
        </p:nvSpPr>
        <p:spPr>
          <a:xfrm>
            <a:off x="8026400" y="2286000"/>
            <a:ext cx="3378200" cy="3048000"/>
          </a:xfrm>
          <a:prstGeom prst="roundRect">
            <a:avLst>
              <a:gd name="adj" fmla="val 0"/>
            </a:avLst>
          </a:prstGeom>
          <a:solidFill>
            <a:srgbClr val="FFFFFF">
              <a:alpha val="50000"/>
            </a:srgbClr>
          </a:solidFill>
          <a:ln w="12700" cap="flat" cmpd="sng">
            <a:solidFill>
              <a:srgbClr val="4CAF50">
                <a:alpha val="3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31200" y="2590800"/>
            <a:ext cx="457200" cy="457200"/>
          </a:xfrm>
          <a:prstGeom prst="rect">
            <a:avLst/>
          </a:prstGeom>
        </p:spPr>
      </p:pic>
      <p:sp>
        <p:nvSpPr>
          <p:cNvPr id="14" name="AutoShape 14"/>
          <p:cNvSpPr/>
          <p:nvPr/>
        </p:nvSpPr>
        <p:spPr>
          <a:xfrm>
            <a:off x="8890000" y="2628900"/>
            <a:ext cx="27686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CAF50"/>
                </a:solidFill>
                <a:latin typeface="Noto Sans SC"/>
                <a:ea typeface="Noto Sans SC"/>
                <a:cs typeface="Noto Sans SC"/>
                <a:sym typeface="Noto Sans SC"/>
              </a:rPr>
              <a:t>安全合规护航</a:t>
            </a:r>
            <a:endParaRPr lang="en-US" sz="1100"/>
          </a:p>
        </p:txBody>
      </p:sp>
      <p:sp>
        <p:nvSpPr>
          <p:cNvPr id="15" name="AutoShape 15"/>
          <p:cNvSpPr/>
          <p:nvPr/>
        </p:nvSpPr>
        <p:spPr>
          <a:xfrm>
            <a:off x="8331200" y="3302000"/>
            <a:ext cx="28702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55555"/>
                </a:solidFill>
                <a:latin typeface="Noto Sans SC"/>
                <a:ea typeface="Noto Sans SC"/>
                <a:cs typeface="Noto Sans SC"/>
                <a:sym typeface="Noto Sans SC"/>
              </a:rPr>
              <a:t>建立AI开发准入机制与代码安全扫描体系，通过人工复核与自动化检测双重保障，规避智能生成带来的逻辑漏洞与潜在版权风险，确保代码质量与合规可控。</a:t>
            </a:r>
            <a:endParaRPr lang="en-US" sz="1100"/>
          </a:p>
        </p:txBody>
      </p:sp>
      <p:sp>
        <p:nvSpPr>
          <p:cNvPr id="16" name="AutoShape 16"/>
          <p:cNvSpPr/>
          <p:nvPr/>
        </p:nvSpPr>
        <p:spPr>
          <a:xfrm>
            <a:off x="762000" y="5588000"/>
            <a:ext cx="10668000" cy="762000"/>
          </a:xfrm>
          <a:prstGeom prst="roundRect">
            <a:avLst>
              <a:gd name="adj" fmla="val 0"/>
            </a:avLst>
          </a:prstGeom>
          <a:solidFill>
            <a:srgbClr val="4CAF50">
              <a:alpha val="1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952500" y="5740400"/>
            <a:ext cx="10414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Noto Sans SC"/>
                <a:ea typeface="Noto Sans SC"/>
                <a:cs typeface="Noto Sans SC"/>
                <a:sym typeface="Noto Sans SC"/>
              </a:rPr>
              <a:t>核心价值：</a:t>
            </a:r>
            <a:r>
              <a:rPr lang="en-US" sz="1500" b="0" i="0" u="none" strike="noStrike">
                <a:solidFill>
                  <a:srgbClr val="444444"/>
                </a:solidFill>
                <a:latin typeface="Noto Sans SC"/>
                <a:ea typeface="Noto Sans SC"/>
                <a:cs typeface="Noto Sans SC"/>
                <a:sym typeface="Noto Sans SC"/>
              </a:rPr>
              <a:t>AI 不仅是开发工具的升级，更是研发生产力与管理模式的深层变革，为企业构建可持续的技术创新引擎与核心竞争力。</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AI开发风险与校验规范</a:t>
            </a:r>
            <a:endParaRPr lang="en-US" sz="1100"/>
          </a:p>
        </p:txBody>
      </p:sp>
      <p:sp>
        <p:nvSpPr>
          <p:cNvPr id="4" name="AutoShape 4"/>
          <p:cNvSpPr/>
          <p:nvPr/>
        </p:nvSpPr>
        <p:spPr>
          <a:xfrm>
            <a:off x="762000" y="1651000"/>
            <a:ext cx="5207000" cy="4318000"/>
          </a:xfrm>
          <a:prstGeom prst="roundRect">
            <a:avLst>
              <a:gd name="adj" fmla="val 0"/>
            </a:avLst>
          </a:prstGeom>
          <a:solidFill>
            <a:srgbClr val="FFFFFF">
              <a:alpha val="60000"/>
            </a:srgbClr>
          </a:solidFill>
          <a:ln cap="flat" cmpd="sng">
            <a:solidFill>
              <a:srgbClr val="E6CFCF">
                <a:alpha val="6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19050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4CAF50"/>
                </a:solidFill>
                <a:latin typeface="Noto Sans SC"/>
                <a:ea typeface="Noto Sans SC"/>
                <a:cs typeface="Noto Sans SC"/>
                <a:sym typeface="Noto Sans SC"/>
              </a:rPr>
              <a:t>01 主要潜在风险</a:t>
            </a:r>
            <a:endParaRPr lang="en-US" sz="1100"/>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667000"/>
            <a:ext cx="304800" cy="304800"/>
          </a:xfrm>
          <a:prstGeom prst="rect">
            <a:avLst/>
          </a:prstGeom>
        </p:spPr>
      </p:pic>
      <p:sp>
        <p:nvSpPr>
          <p:cNvPr id="7" name="AutoShape 7"/>
          <p:cNvSpPr/>
          <p:nvPr/>
        </p:nvSpPr>
        <p:spPr>
          <a:xfrm>
            <a:off x="1460500" y="2641600"/>
            <a:ext cx="4318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Noto Sans SC"/>
                <a:ea typeface="Noto Sans SC"/>
                <a:cs typeface="Noto Sans SC"/>
                <a:sym typeface="Noto Sans SC"/>
              </a:rPr>
              <a:t>逻辑正确性偏差</a:t>
            </a:r>
            <a:endParaRPr lang="en-US" sz="1100"/>
          </a:p>
          <a:p>
            <a:pPr marL="0" indent="0" algn="l">
              <a:lnSpc>
                <a:spcPct val="100000"/>
              </a:lnSpc>
            </a:pPr>
            <a:r>
              <a:rPr lang="en-US" sz="1300" b="0" i="0" u="none" strike="noStrike">
                <a:solidFill>
                  <a:srgbClr val="555555"/>
                </a:solidFill>
                <a:latin typeface="Noto Sans SC"/>
                <a:ea typeface="Noto Sans SC"/>
                <a:cs typeface="Noto Sans SC"/>
                <a:sym typeface="Noto Sans SC"/>
              </a:rPr>
              <a:t>AI难以完全理解复杂的业务规则与边界条件，易导致生成代码存在逻辑漏洞或违背业务初衷的判断。</a:t>
            </a:r>
            <a:endParaRPr lang="en-US" sz="1300" b="0" i="0" u="none" strike="noStrike">
              <a:solidFill>
                <a:srgbClr val="555555"/>
              </a:solidFill>
              <a:latin typeface="Noto Sans SC"/>
              <a:ea typeface="Noto Sans SC"/>
              <a:cs typeface="Noto Sans SC"/>
              <a:sym typeface="Noto Sans SC"/>
            </a:endParaRPr>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492500"/>
            <a:ext cx="304800" cy="304800"/>
          </a:xfrm>
          <a:prstGeom prst="rect">
            <a:avLst/>
          </a:prstGeom>
        </p:spPr>
      </p:pic>
      <p:sp>
        <p:nvSpPr>
          <p:cNvPr id="9" name="AutoShape 9"/>
          <p:cNvSpPr/>
          <p:nvPr/>
        </p:nvSpPr>
        <p:spPr>
          <a:xfrm>
            <a:off x="1460500" y="3467100"/>
            <a:ext cx="4318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Noto Sans SC"/>
                <a:ea typeface="Noto Sans SC"/>
                <a:cs typeface="Noto Sans SC"/>
                <a:sym typeface="Noto Sans SC"/>
              </a:rPr>
              <a:t>代码安全隐患</a:t>
            </a:r>
            <a:endParaRPr lang="en-US" sz="1100"/>
          </a:p>
          <a:p>
            <a:pPr marL="0" indent="0" algn="l">
              <a:lnSpc>
                <a:spcPct val="100000"/>
              </a:lnSpc>
            </a:pPr>
            <a:r>
              <a:rPr lang="en-US" sz="1300" b="0" i="0" u="none" strike="noStrike">
                <a:solidFill>
                  <a:srgbClr val="555555"/>
                </a:solidFill>
                <a:latin typeface="Noto Sans SC"/>
                <a:ea typeface="Noto Sans SC"/>
                <a:cs typeface="Noto Sans SC"/>
                <a:sym typeface="Noto Sans SC"/>
              </a:rPr>
              <a:t>生成代码可能包含SQL注入、XSS跨站脚本等安全漏洞，缺乏针对生产环境的安全防御意识。</a:t>
            </a:r>
            <a:endParaRPr lang="en-US" sz="1300" b="0" i="0" u="none" strike="noStrike">
              <a:solidFill>
                <a:srgbClr val="555555"/>
              </a:solidFill>
              <a:latin typeface="Noto Sans SC"/>
              <a:ea typeface="Noto Sans SC"/>
              <a:cs typeface="Noto Sans SC"/>
              <a:sym typeface="Noto Sans SC"/>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318000"/>
            <a:ext cx="304800" cy="304800"/>
          </a:xfrm>
          <a:prstGeom prst="rect">
            <a:avLst/>
          </a:prstGeom>
        </p:spPr>
      </p:pic>
      <p:sp>
        <p:nvSpPr>
          <p:cNvPr id="11" name="AutoShape 11"/>
          <p:cNvSpPr/>
          <p:nvPr/>
        </p:nvSpPr>
        <p:spPr>
          <a:xfrm>
            <a:off x="1460500" y="4292600"/>
            <a:ext cx="4318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Noto Sans SC"/>
                <a:ea typeface="Noto Sans SC"/>
                <a:cs typeface="Noto Sans SC"/>
                <a:sym typeface="Noto Sans SC"/>
              </a:rPr>
              <a:t>可维护性挑战</a:t>
            </a:r>
            <a:endParaRPr lang="en-US" sz="1100"/>
          </a:p>
          <a:p>
            <a:pPr marL="0" indent="0" algn="l">
              <a:lnSpc>
                <a:spcPct val="100000"/>
              </a:lnSpc>
            </a:pPr>
            <a:r>
              <a:rPr lang="en-US" sz="1300" b="0" i="0" u="none" strike="noStrike">
                <a:solidFill>
                  <a:srgbClr val="555555"/>
                </a:solidFill>
                <a:latin typeface="Noto Sans SC"/>
                <a:ea typeface="Noto Sans SC"/>
                <a:cs typeface="Noto Sans SC"/>
                <a:sym typeface="Noto Sans SC"/>
              </a:rPr>
              <a:t>生成代码风格不统一、注释缺失或结构冗余，长期积累将显著增加系统的维护难度与迭代成本。</a:t>
            </a:r>
            <a:endParaRPr lang="en-US" sz="1300" b="0" i="0" u="none" strike="noStrike">
              <a:solidFill>
                <a:srgbClr val="555555"/>
              </a:solidFill>
              <a:latin typeface="Noto Sans SC"/>
              <a:ea typeface="Noto Sans SC"/>
              <a:cs typeface="Noto Sans SC"/>
              <a:sym typeface="Noto Sans SC"/>
            </a:endParaRPr>
          </a:p>
        </p:txBody>
      </p:sp>
      <p:pic>
        <p:nvPicPr>
          <p:cNvPr id="12" name="Picture 1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5143500"/>
            <a:ext cx="304800" cy="304800"/>
          </a:xfrm>
          <a:prstGeom prst="rect">
            <a:avLst/>
          </a:prstGeom>
        </p:spPr>
      </p:pic>
      <p:sp>
        <p:nvSpPr>
          <p:cNvPr id="13" name="AutoShape 13"/>
          <p:cNvSpPr/>
          <p:nvPr/>
        </p:nvSpPr>
        <p:spPr>
          <a:xfrm>
            <a:off x="1460500" y="5118100"/>
            <a:ext cx="4318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Noto Sans SC"/>
                <a:ea typeface="Noto Sans SC"/>
                <a:cs typeface="Noto Sans SC"/>
                <a:sym typeface="Noto Sans SC"/>
              </a:rPr>
              <a:t>开发者能力依赖</a:t>
            </a:r>
            <a:endParaRPr lang="en-US" sz="1100"/>
          </a:p>
          <a:p>
            <a:pPr marL="0" indent="0" algn="l">
              <a:lnSpc>
                <a:spcPct val="100000"/>
              </a:lnSpc>
            </a:pPr>
            <a:r>
              <a:rPr lang="en-US" sz="1300" b="0" i="0" u="none" strike="noStrike">
                <a:solidFill>
                  <a:srgbClr val="555555"/>
                </a:solidFill>
                <a:latin typeface="Noto Sans SC"/>
                <a:ea typeface="Noto Sans SC"/>
                <a:cs typeface="Noto Sans SC"/>
                <a:sym typeface="Noto Sans SC"/>
              </a:rPr>
              <a:t>过度依赖AI生成代码，可能导致开发者主动思考、算法设计与手写编码能力的逐步退化。</a:t>
            </a:r>
            <a:endParaRPr lang="en-US" sz="1300" b="0" i="0" u="none" strike="noStrike">
              <a:solidFill>
                <a:srgbClr val="555555"/>
              </a:solidFill>
              <a:latin typeface="Noto Sans SC"/>
              <a:ea typeface="Noto Sans SC"/>
              <a:cs typeface="Noto Sans SC"/>
              <a:sym typeface="Noto Sans SC"/>
            </a:endParaRPr>
          </a:p>
        </p:txBody>
      </p:sp>
      <p:sp>
        <p:nvSpPr>
          <p:cNvPr id="14" name="AutoShape 14"/>
          <p:cNvSpPr/>
          <p:nvPr/>
        </p:nvSpPr>
        <p:spPr>
          <a:xfrm>
            <a:off x="6223000" y="1651000"/>
            <a:ext cx="5207000" cy="4318000"/>
          </a:xfrm>
          <a:prstGeom prst="roundRect">
            <a:avLst>
              <a:gd name="adj" fmla="val 0"/>
            </a:avLst>
          </a:prstGeom>
          <a:solidFill>
            <a:srgbClr val="FFFFFF">
              <a:alpha val="60000"/>
            </a:srgbClr>
          </a:solidFill>
          <a:ln cap="flat" cmpd="sng">
            <a:solidFill>
              <a:srgbClr val="E6CFCF">
                <a:alpha val="6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6477000" y="19050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4CAF50"/>
                </a:solidFill>
                <a:latin typeface="Noto Sans SC"/>
                <a:ea typeface="Noto Sans SC"/>
                <a:cs typeface="Noto Sans SC"/>
                <a:sym typeface="Noto Sans SC"/>
              </a:rPr>
              <a:t>02 关键应对与校验规范</a:t>
            </a:r>
            <a:endParaRPr lang="en-US" sz="1100"/>
          </a:p>
        </p:txBody>
      </p:sp>
      <p:pic>
        <p:nvPicPr>
          <p:cNvPr id="16" name="Picture 16"/>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77000" y="2667000"/>
            <a:ext cx="304800" cy="304800"/>
          </a:xfrm>
          <a:prstGeom prst="rect">
            <a:avLst/>
          </a:prstGeom>
        </p:spPr>
      </p:pic>
      <p:sp>
        <p:nvSpPr>
          <p:cNvPr id="17" name="AutoShape 17"/>
          <p:cNvSpPr/>
          <p:nvPr/>
        </p:nvSpPr>
        <p:spPr>
          <a:xfrm>
            <a:off x="6921500" y="2641600"/>
            <a:ext cx="4318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Noto Sans SC"/>
                <a:ea typeface="Noto Sans SC"/>
                <a:cs typeface="Noto Sans SC"/>
                <a:sym typeface="Noto Sans SC"/>
              </a:rPr>
              <a:t>强制人工 Code Review</a:t>
            </a:r>
            <a:endParaRPr lang="en-US" sz="1100"/>
          </a:p>
          <a:p>
            <a:pPr marL="0" indent="0" algn="l">
              <a:lnSpc>
                <a:spcPct val="100000"/>
              </a:lnSpc>
            </a:pPr>
            <a:r>
              <a:rPr lang="en-US" sz="1300" b="0" i="0" u="none" strike="noStrike">
                <a:solidFill>
                  <a:srgbClr val="555555"/>
                </a:solidFill>
                <a:latin typeface="Noto Sans SC"/>
                <a:ea typeface="Noto Sans SC"/>
                <a:cs typeface="Noto Sans SC"/>
                <a:sym typeface="Noto Sans SC"/>
              </a:rPr>
              <a:t>所有AI生成代码必须经过严格</a:t>
            </a:r>
            <a:r>
              <a:rPr lang="zh-CN" altLang="en-US" sz="1300" b="0" i="0" u="none" strike="noStrike">
                <a:solidFill>
                  <a:srgbClr val="555555"/>
                </a:solidFill>
                <a:latin typeface="Noto Sans SC"/>
                <a:ea typeface="Noto Sans SC"/>
                <a:cs typeface="Noto Sans SC"/>
                <a:sym typeface="Noto Sans SC"/>
              </a:rPr>
              <a:t>的</a:t>
            </a:r>
            <a:r>
              <a:rPr lang="en-US" sz="1300" b="0" i="0" u="none" strike="noStrike">
                <a:solidFill>
                  <a:srgbClr val="555555"/>
                </a:solidFill>
                <a:latin typeface="Noto Sans SC"/>
                <a:ea typeface="Noto Sans SC"/>
                <a:cs typeface="Noto Sans SC"/>
                <a:sym typeface="Noto Sans SC"/>
              </a:rPr>
              <a:t>人工审查，重点核查逻辑合规性、安全性及设计合理性。</a:t>
            </a:r>
            <a:endParaRPr lang="en-US" sz="1300" b="0" i="0" u="none" strike="noStrike">
              <a:solidFill>
                <a:srgbClr val="555555"/>
              </a:solidFill>
              <a:latin typeface="Noto Sans SC"/>
              <a:ea typeface="Noto Sans SC"/>
              <a:cs typeface="Noto Sans SC"/>
              <a:sym typeface="Noto Sans SC"/>
            </a:endParaRPr>
          </a:p>
        </p:txBody>
      </p:sp>
      <p:pic>
        <p:nvPicPr>
          <p:cNvPr id="18" name="Picture 18"/>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477000" y="3492500"/>
            <a:ext cx="304800" cy="304800"/>
          </a:xfrm>
          <a:prstGeom prst="rect">
            <a:avLst/>
          </a:prstGeom>
        </p:spPr>
      </p:pic>
      <p:sp>
        <p:nvSpPr>
          <p:cNvPr id="19" name="AutoShape 19"/>
          <p:cNvSpPr/>
          <p:nvPr/>
        </p:nvSpPr>
        <p:spPr>
          <a:xfrm>
            <a:off x="6921500" y="3467100"/>
            <a:ext cx="4318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Noto Sans SC"/>
                <a:ea typeface="Noto Sans SC"/>
                <a:cs typeface="Noto Sans SC"/>
                <a:sym typeface="Noto Sans SC"/>
              </a:rPr>
              <a:t>完备的自动化测试覆盖</a:t>
            </a:r>
            <a:endParaRPr lang="en-US" sz="1100"/>
          </a:p>
          <a:p>
            <a:pPr marL="0" indent="0" algn="l">
              <a:lnSpc>
                <a:spcPct val="100000"/>
              </a:lnSpc>
            </a:pPr>
            <a:r>
              <a:rPr lang="en-US" sz="1300" b="0" i="0" u="none" strike="noStrike">
                <a:solidFill>
                  <a:srgbClr val="555555"/>
                </a:solidFill>
                <a:latin typeface="Noto Sans SC"/>
                <a:ea typeface="Noto Sans SC"/>
                <a:cs typeface="Noto Sans SC"/>
                <a:sym typeface="Noto Sans SC"/>
              </a:rPr>
              <a:t>坚持为生成代码编写高覆盖率的单元测试与集成测试，通过自动化手段确保功能稳定与回归保障。</a:t>
            </a:r>
            <a:endParaRPr lang="en-US" sz="1300" b="0" i="0" u="none" strike="noStrike">
              <a:solidFill>
                <a:srgbClr val="555555"/>
              </a:solidFill>
              <a:latin typeface="Noto Sans SC"/>
              <a:ea typeface="Noto Sans SC"/>
              <a:cs typeface="Noto Sans SC"/>
              <a:sym typeface="Noto Sans SC"/>
            </a:endParaRPr>
          </a:p>
        </p:txBody>
      </p:sp>
      <p:pic>
        <p:nvPicPr>
          <p:cNvPr id="20" name="Picture 20"/>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477000" y="4318000"/>
            <a:ext cx="304800" cy="304800"/>
          </a:xfrm>
          <a:prstGeom prst="rect">
            <a:avLst/>
          </a:prstGeom>
        </p:spPr>
      </p:pic>
      <p:sp>
        <p:nvSpPr>
          <p:cNvPr id="21" name="AutoShape 21"/>
          <p:cNvSpPr/>
          <p:nvPr/>
        </p:nvSpPr>
        <p:spPr>
          <a:xfrm>
            <a:off x="6921500" y="4292600"/>
            <a:ext cx="4318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Noto Sans SC"/>
                <a:ea typeface="Noto Sans SC"/>
                <a:cs typeface="Noto Sans SC"/>
                <a:sym typeface="Noto Sans SC"/>
              </a:rPr>
              <a:t>核心高风险逻辑人工编写</a:t>
            </a:r>
            <a:endParaRPr lang="en-US" sz="1100"/>
          </a:p>
          <a:p>
            <a:pPr marL="0" indent="0" algn="l">
              <a:lnSpc>
                <a:spcPct val="100000"/>
              </a:lnSpc>
            </a:pPr>
            <a:r>
              <a:rPr lang="en-US" sz="1300" b="0" i="0" u="none" strike="noStrike">
                <a:solidFill>
                  <a:srgbClr val="555555"/>
                </a:solidFill>
                <a:latin typeface="Noto Sans SC"/>
                <a:ea typeface="Noto Sans SC"/>
                <a:cs typeface="Noto Sans SC"/>
                <a:sym typeface="Noto Sans SC"/>
              </a:rPr>
              <a:t>涉及资金交易、用户隐私、核心算法等高危逻辑，严禁完全依赖AI，必须由人工主导编写与把控。</a:t>
            </a:r>
            <a:endParaRPr lang="en-US" sz="1300" b="0" i="0" u="none" strike="noStrike">
              <a:solidFill>
                <a:srgbClr val="555555"/>
              </a:solidFill>
              <a:latin typeface="Noto Sans SC"/>
              <a:ea typeface="Noto Sans SC"/>
              <a:cs typeface="Noto Sans SC"/>
              <a:sym typeface="Noto Sans SC"/>
            </a:endParaRPr>
          </a:p>
        </p:txBody>
      </p:sp>
      <p:pic>
        <p:nvPicPr>
          <p:cNvPr id="22" name="Picture 22"/>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477000" y="5143500"/>
            <a:ext cx="304800" cy="304800"/>
          </a:xfrm>
          <a:prstGeom prst="rect">
            <a:avLst/>
          </a:prstGeom>
        </p:spPr>
      </p:pic>
      <p:sp>
        <p:nvSpPr>
          <p:cNvPr id="23" name="AutoShape 23"/>
          <p:cNvSpPr/>
          <p:nvPr/>
        </p:nvSpPr>
        <p:spPr>
          <a:xfrm>
            <a:off x="6921500" y="5118100"/>
            <a:ext cx="4318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Noto Sans SC"/>
                <a:ea typeface="Noto Sans SC"/>
                <a:cs typeface="Noto Sans SC"/>
                <a:sym typeface="Noto Sans SC"/>
              </a:rPr>
              <a:t>持续学习，知其然更知其所以然</a:t>
            </a:r>
            <a:endParaRPr lang="en-US" sz="1100"/>
          </a:p>
          <a:p>
            <a:pPr marL="0" indent="0" algn="l">
              <a:lnSpc>
                <a:spcPct val="100000"/>
              </a:lnSpc>
            </a:pPr>
            <a:r>
              <a:rPr lang="en-US" sz="1300" b="0" i="0" u="none" strike="noStrike">
                <a:solidFill>
                  <a:srgbClr val="555555"/>
                </a:solidFill>
                <a:latin typeface="Noto Sans SC"/>
                <a:ea typeface="Noto Sans SC"/>
                <a:cs typeface="Noto Sans SC"/>
                <a:sym typeface="Noto Sans SC"/>
              </a:rPr>
              <a:t>将AI作为辅助学习工具，深入理解其生成代码的原理与设计思路，保持技术判断力与主动思考能力。</a:t>
            </a:r>
            <a:endParaRPr lang="en-US" sz="1300" b="0" i="0" u="none" strike="noStrike">
              <a:solidFill>
                <a:srgbClr val="555555"/>
              </a:solidFill>
              <a:latin typeface="Noto Sans SC"/>
              <a:ea typeface="Noto Sans SC"/>
              <a:cs typeface="Noto Sans SC"/>
              <a:sym typeface="Noto Sans SC"/>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05 系统功能Demo演示</a:t>
            </a:r>
            <a:endParaRPr lang="en-US" sz="1100"/>
          </a:p>
        </p:txBody>
      </p:sp>
      <p:sp>
        <p:nvSpPr>
          <p:cNvPr id="4" name="AutoShape 4"/>
          <p:cNvSpPr/>
          <p:nvPr/>
        </p:nvSpPr>
        <p:spPr>
          <a:xfrm>
            <a:off x="762000" y="2286000"/>
            <a:ext cx="3378200" cy="3048000"/>
          </a:xfrm>
          <a:prstGeom prst="roundRect">
            <a:avLst>
              <a:gd name="adj" fmla="val 0"/>
            </a:avLst>
          </a:prstGeom>
          <a:solidFill>
            <a:srgbClr val="FFFFFF">
              <a:alpha val="60000"/>
            </a:srgbClr>
          </a:solidFill>
          <a:ln w="12700" cap="flat" cmpd="sng">
            <a:solidFill>
              <a:srgbClr val="4CAF50">
                <a:alpha val="4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6800" y="2590800"/>
            <a:ext cx="609600" cy="609600"/>
          </a:xfrm>
          <a:prstGeom prst="rect">
            <a:avLst/>
          </a:prstGeom>
        </p:spPr>
      </p:pic>
      <p:sp>
        <p:nvSpPr>
          <p:cNvPr id="6" name="AutoShape 6"/>
          <p:cNvSpPr/>
          <p:nvPr/>
        </p:nvSpPr>
        <p:spPr>
          <a:xfrm>
            <a:off x="1066800" y="3403600"/>
            <a:ext cx="27686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CAF50"/>
                </a:solidFill>
                <a:latin typeface="Noto Sans SC"/>
                <a:ea typeface="Noto Sans SC"/>
                <a:cs typeface="Noto Sans SC"/>
                <a:sym typeface="Noto Sans SC"/>
              </a:rPr>
              <a:t>智能数据分析看板</a:t>
            </a:r>
            <a:endParaRPr lang="en-US" sz="1100"/>
          </a:p>
        </p:txBody>
      </p:sp>
      <p:sp>
        <p:nvSpPr>
          <p:cNvPr id="7" name="AutoShape 7"/>
          <p:cNvSpPr/>
          <p:nvPr/>
        </p:nvSpPr>
        <p:spPr>
          <a:xfrm>
            <a:off x="1066800" y="3937000"/>
            <a:ext cx="27686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55555"/>
                </a:solidFill>
                <a:latin typeface="Noto Sans SC"/>
                <a:ea typeface="Noto Sans SC"/>
                <a:cs typeface="Noto Sans SC"/>
                <a:sym typeface="Noto Sans SC"/>
              </a:rPr>
              <a:t>实时汇聚多源业务数据，通过可视化图表直观呈现关键指标与趋势。支持多维度钻取分析，辅助管理层快速洞察业务动态。</a:t>
            </a:r>
            <a:endParaRPr lang="en-US" sz="1100"/>
          </a:p>
        </p:txBody>
      </p:sp>
      <p:sp>
        <p:nvSpPr>
          <p:cNvPr id="8" name="AutoShape 8"/>
          <p:cNvSpPr/>
          <p:nvPr/>
        </p:nvSpPr>
        <p:spPr>
          <a:xfrm>
            <a:off x="4394200" y="2286000"/>
            <a:ext cx="3378200" cy="3048000"/>
          </a:xfrm>
          <a:prstGeom prst="roundRect">
            <a:avLst>
              <a:gd name="adj" fmla="val 0"/>
            </a:avLst>
          </a:prstGeom>
          <a:solidFill>
            <a:srgbClr val="FFFFFF">
              <a:alpha val="60000"/>
            </a:srgbClr>
          </a:solidFill>
          <a:ln w="12700" cap="flat" cmpd="sng">
            <a:solidFill>
              <a:srgbClr val="4CAF50">
                <a:alpha val="4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2590800"/>
            <a:ext cx="609600" cy="609600"/>
          </a:xfrm>
          <a:prstGeom prst="rect">
            <a:avLst/>
          </a:prstGeom>
        </p:spPr>
      </p:pic>
      <p:sp>
        <p:nvSpPr>
          <p:cNvPr id="10" name="AutoShape 10"/>
          <p:cNvSpPr/>
          <p:nvPr/>
        </p:nvSpPr>
        <p:spPr>
          <a:xfrm>
            <a:off x="4699000" y="3403600"/>
            <a:ext cx="27686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CAF50"/>
                </a:solidFill>
                <a:latin typeface="Noto Sans SC"/>
                <a:ea typeface="Noto Sans SC"/>
                <a:cs typeface="Noto Sans SC"/>
                <a:sym typeface="Noto Sans SC"/>
              </a:rPr>
              <a:t>全流程权限管控</a:t>
            </a:r>
            <a:endParaRPr lang="en-US" sz="1100"/>
          </a:p>
        </p:txBody>
      </p:sp>
      <p:sp>
        <p:nvSpPr>
          <p:cNvPr id="11" name="AutoShape 11"/>
          <p:cNvSpPr/>
          <p:nvPr/>
        </p:nvSpPr>
        <p:spPr>
          <a:xfrm>
            <a:off x="4699000" y="3937000"/>
            <a:ext cx="27686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55555"/>
                </a:solidFill>
                <a:latin typeface="Noto Sans SC"/>
                <a:ea typeface="Noto Sans SC"/>
                <a:cs typeface="Noto Sans SC"/>
                <a:sym typeface="Noto Sans SC"/>
              </a:rPr>
              <a:t>构建精细化的RBAC权限模型，覆盖用户生命周期管理。集成行为日志追踪，确保系统访问安全合规，操作全程可追溯。</a:t>
            </a:r>
            <a:endParaRPr lang="en-US" sz="1100"/>
          </a:p>
        </p:txBody>
      </p:sp>
      <p:sp>
        <p:nvSpPr>
          <p:cNvPr id="12" name="AutoShape 12"/>
          <p:cNvSpPr/>
          <p:nvPr/>
        </p:nvSpPr>
        <p:spPr>
          <a:xfrm>
            <a:off x="8026400" y="2286000"/>
            <a:ext cx="3378200" cy="3048000"/>
          </a:xfrm>
          <a:prstGeom prst="roundRect">
            <a:avLst>
              <a:gd name="adj" fmla="val 0"/>
            </a:avLst>
          </a:prstGeom>
          <a:solidFill>
            <a:srgbClr val="FFFFFF">
              <a:alpha val="60000"/>
            </a:srgbClr>
          </a:solidFill>
          <a:ln w="12700" cap="flat" cmpd="sng">
            <a:solidFill>
              <a:srgbClr val="4CAF50">
                <a:alpha val="4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31200" y="2590800"/>
            <a:ext cx="609600" cy="609600"/>
          </a:xfrm>
          <a:prstGeom prst="rect">
            <a:avLst/>
          </a:prstGeom>
        </p:spPr>
      </p:pic>
      <p:sp>
        <p:nvSpPr>
          <p:cNvPr id="14" name="AutoShape 14"/>
          <p:cNvSpPr/>
          <p:nvPr/>
        </p:nvSpPr>
        <p:spPr>
          <a:xfrm>
            <a:off x="8331200" y="3403600"/>
            <a:ext cx="27686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CAF50"/>
                </a:solidFill>
                <a:latin typeface="Noto Sans SC"/>
                <a:ea typeface="Noto Sans SC"/>
                <a:cs typeface="Noto Sans SC"/>
                <a:sym typeface="Noto Sans SC"/>
              </a:rPr>
              <a:t>可视化配置中台</a:t>
            </a:r>
            <a:endParaRPr lang="en-US" sz="1100"/>
          </a:p>
        </p:txBody>
      </p:sp>
      <p:sp>
        <p:nvSpPr>
          <p:cNvPr id="15" name="AutoShape 15"/>
          <p:cNvSpPr/>
          <p:nvPr/>
        </p:nvSpPr>
        <p:spPr>
          <a:xfrm>
            <a:off x="8331200" y="3937000"/>
            <a:ext cx="27686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55555"/>
                </a:solidFill>
                <a:latin typeface="Noto Sans SC"/>
                <a:ea typeface="Noto Sans SC"/>
                <a:cs typeface="Noto Sans SC"/>
                <a:sym typeface="Noto Sans SC"/>
              </a:rPr>
              <a:t>提供零代码配置界面，支持动态参数调整与模块开关管理。快速集成第三方API接口，灵活适配业务场景的快速迭代需求。</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778000"/>
            <a:ext cx="4150179" cy="2413000"/>
          </a:xfrm>
          <a:prstGeom prst="roundRect">
            <a:avLst>
              <a:gd name="adj" fmla="val 0"/>
            </a:avLst>
          </a:prstGeom>
          <a:solidFill>
            <a:srgbClr val="FFFFFF">
              <a:alpha val="60000"/>
            </a:srgbClr>
          </a:solidFill>
          <a:ln w="12700" cap="flat" cmpd="sng">
            <a:solidFill>
              <a:srgbClr val="4CAF50">
                <a:alpha val="2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032000"/>
            <a:ext cx="406400" cy="406400"/>
          </a:xfrm>
          <a:prstGeom prst="rect">
            <a:avLst/>
          </a:prstGeom>
        </p:spPr>
      </p:pic>
      <p:sp>
        <p:nvSpPr>
          <p:cNvPr id="6" name="AutoShape 6"/>
          <p:cNvSpPr/>
          <p:nvPr/>
        </p:nvSpPr>
        <p:spPr>
          <a:xfrm>
            <a:off x="1587500" y="20320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CAF50"/>
                </a:solidFill>
                <a:latin typeface="Noto Sans SC"/>
                <a:ea typeface="Noto Sans SC"/>
                <a:cs typeface="Noto Sans SC"/>
                <a:sym typeface="Noto Sans SC"/>
              </a:rPr>
              <a:t>01 权限精细化管控</a:t>
            </a:r>
            <a:endParaRPr lang="en-US" sz="1100"/>
          </a:p>
        </p:txBody>
      </p:sp>
      <p:sp>
        <p:nvSpPr>
          <p:cNvPr id="7" name="AutoShape 7"/>
          <p:cNvSpPr/>
          <p:nvPr/>
        </p:nvSpPr>
        <p:spPr>
          <a:xfrm>
            <a:off x="1016000" y="2603500"/>
            <a:ext cx="3764643" cy="1424214"/>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55555"/>
                </a:solidFill>
                <a:latin typeface="Noto Sans SC"/>
                <a:ea typeface="Noto Sans SC"/>
                <a:cs typeface="Noto Sans SC"/>
                <a:sym typeface="Noto Sans SC"/>
              </a:rPr>
              <a:t>基于RBAC模型构建权限体系，支持管理员灵活配置用户、角色与菜单的关联关系。通过切换不同账号演示，直观呈现系统对功能入口和数据访问的严格隔离，确保物业管理的操作安全与数据保密。</a:t>
            </a:r>
            <a:endParaRPr lang="en-US" sz="1100"/>
          </a:p>
        </p:txBody>
      </p:sp>
      <p:sp>
        <p:nvSpPr>
          <p:cNvPr id="8" name="AutoShape 8"/>
          <p:cNvSpPr/>
          <p:nvPr/>
        </p:nvSpPr>
        <p:spPr>
          <a:xfrm>
            <a:off x="762000" y="4191000"/>
            <a:ext cx="4150179" cy="2403929"/>
          </a:xfrm>
          <a:prstGeom prst="roundRect">
            <a:avLst>
              <a:gd name="adj" fmla="val 0"/>
            </a:avLst>
          </a:prstGeom>
          <a:solidFill>
            <a:srgbClr val="FFFFFF">
              <a:alpha val="60000"/>
            </a:srgbClr>
          </a:solidFill>
          <a:ln w="12700" cap="flat" cmpd="sng">
            <a:solidFill>
              <a:srgbClr val="4CAF50">
                <a:alpha val="2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4445000"/>
            <a:ext cx="406400" cy="406400"/>
          </a:xfrm>
          <a:prstGeom prst="rect">
            <a:avLst/>
          </a:prstGeom>
        </p:spPr>
      </p:pic>
      <p:sp>
        <p:nvSpPr>
          <p:cNvPr id="10" name="AutoShape 10"/>
          <p:cNvSpPr/>
          <p:nvPr/>
        </p:nvSpPr>
        <p:spPr>
          <a:xfrm>
            <a:off x="1587500" y="44450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CAF50"/>
                </a:solidFill>
                <a:latin typeface="Noto Sans SC"/>
                <a:ea typeface="Noto Sans SC"/>
                <a:cs typeface="Noto Sans SC"/>
                <a:sym typeface="Noto Sans SC"/>
              </a:rPr>
              <a:t>02 基础数据可视化管理</a:t>
            </a:r>
            <a:endParaRPr lang="en-US" sz="1100"/>
          </a:p>
        </p:txBody>
      </p:sp>
      <p:sp>
        <p:nvSpPr>
          <p:cNvPr id="11" name="AutoShape 11"/>
          <p:cNvSpPr/>
          <p:nvPr/>
        </p:nvSpPr>
        <p:spPr>
          <a:xfrm>
            <a:off x="1016000" y="5016500"/>
            <a:ext cx="3764598" cy="1438729"/>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55555"/>
                </a:solidFill>
                <a:latin typeface="Noto Sans SC"/>
                <a:ea typeface="Noto Sans SC"/>
                <a:cs typeface="Noto Sans SC"/>
                <a:sym typeface="Noto Sans SC"/>
              </a:rPr>
              <a:t>实现小区、楼栋、房屋信息的全生命周期管理，支持新增、编辑、删除及批量操作。以清晰的结构展示资产层级关系，构建标准化的物业基础数据库，为业主服务、收费管理等核心业务提供坚实的数据支撑。</a:t>
            </a:r>
            <a:endParaRPr lang="en-US" sz="1100"/>
          </a:p>
        </p:txBody>
      </p:sp>
      <p:pic>
        <p:nvPicPr>
          <p:cNvPr id="13" name="图片 12" descr="post_object_image_2028234699"/>
          <p:cNvPicPr>
            <a:picLocks noChangeAspect="1"/>
          </p:cNvPicPr>
          <p:nvPr/>
        </p:nvPicPr>
        <p:blipFill>
          <a:blip r:embed="rId6"/>
          <a:stretch>
            <a:fillRect/>
          </a:stretch>
        </p:blipFill>
        <p:spPr>
          <a:xfrm>
            <a:off x="6692673" y="1654629"/>
            <a:ext cx="4467225" cy="4800600"/>
          </a:xfrm>
          <a:prstGeom prst="rect">
            <a:avLst/>
          </a:prstGeom>
        </p:spPr>
      </p:pic>
      <p:sp>
        <p:nvSpPr>
          <p:cNvPr id="23" name="文本框 22"/>
          <p:cNvSpPr txBox="1"/>
          <p:nvPr userDrawn="1"/>
        </p:nvSpPr>
        <p:spPr>
          <a:xfrm>
            <a:off x="762000" y="459740"/>
            <a:ext cx="11150600" cy="583565"/>
          </a:xfrm>
          <a:prstGeom prst="rect">
            <a:avLst/>
          </a:prstGeom>
        </p:spPr>
        <p:txBody>
          <a:bodyPr wrap="square" rtlCol="0">
            <a:noAutofit/>
          </a:bodyPr>
          <a:p>
            <a:r>
              <a:rPr lang="en-US" sz="3200" b="1">
                <a:solidFill>
                  <a:srgbClr val="333333"/>
                </a:solidFill>
                <a:latin typeface="Noto Sans SC"/>
                <a:ea typeface="Noto Sans SC"/>
                <a:cs typeface="Noto Sans SC"/>
                <a:sym typeface="Noto Sans SC"/>
              </a:rPr>
              <a:t>功能演示：</a:t>
            </a:r>
            <a:r>
              <a:rPr lang="zh-CN" altLang="en-US" sz="3200" b="1">
                <a:solidFill>
                  <a:srgbClr val="333333"/>
                </a:solidFill>
                <a:latin typeface="Noto Sans SC"/>
                <a:ea typeface="Noto Sans SC"/>
                <a:cs typeface="Noto Sans SC"/>
                <a:sym typeface="Noto Sans SC"/>
              </a:rPr>
              <a:t>管理员端</a:t>
            </a:r>
            <a:endParaRPr lang="en-US" altLang="en-US" sz="3200" b="1">
              <a:solidFill>
                <a:srgbClr val="333333"/>
              </a:solidFill>
              <a:latin typeface="Noto Sans SC"/>
              <a:ea typeface="Noto Sans SC"/>
              <a:cs typeface="Noto Sans SC"/>
              <a:sym typeface="Noto Sans SC"/>
            </a:endParaRPr>
          </a:p>
        </p:txBody>
      </p:sp>
      <p:pic>
        <p:nvPicPr>
          <p:cNvPr id="24" name="图片 23"/>
          <p:cNvPicPr>
            <a:picLocks noChangeAspect="1"/>
          </p:cNvPicPr>
          <p:nvPr/>
        </p:nvPicPr>
        <p:blipFill>
          <a:blip r:embed="rId7"/>
          <a:stretch>
            <a:fillRect/>
          </a:stretch>
        </p:blipFill>
        <p:spPr>
          <a:xfrm>
            <a:off x="762000" y="1794374"/>
            <a:ext cx="8429625" cy="4800600"/>
          </a:xfrm>
          <a:prstGeom prst="rect">
            <a:avLst/>
          </a:prstGeom>
        </p:spPr>
      </p:pic>
      <p:pic>
        <p:nvPicPr>
          <p:cNvPr id="25" name="图片 24"/>
          <p:cNvPicPr>
            <a:picLocks noChangeAspect="1"/>
          </p:cNvPicPr>
          <p:nvPr/>
        </p:nvPicPr>
        <p:blipFill>
          <a:blip r:embed="rId8"/>
          <a:stretch>
            <a:fillRect/>
          </a:stretch>
        </p:blipFill>
        <p:spPr>
          <a:xfrm>
            <a:off x="3302045" y="2070599"/>
            <a:ext cx="8534400" cy="4524375"/>
          </a:xfrm>
          <a:prstGeom prst="rect">
            <a:avLst/>
          </a:prstGeom>
        </p:spPr>
      </p:pic>
      <p:pic>
        <p:nvPicPr>
          <p:cNvPr id="26" name="图片 25"/>
          <p:cNvPicPr>
            <a:picLocks noChangeAspect="1"/>
          </p:cNvPicPr>
          <p:nvPr/>
        </p:nvPicPr>
        <p:blipFill>
          <a:blip r:embed="rId9"/>
          <a:stretch>
            <a:fillRect/>
          </a:stretch>
        </p:blipFill>
        <p:spPr>
          <a:xfrm>
            <a:off x="762000" y="1777728"/>
            <a:ext cx="8534400" cy="47910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nodeType="clickEffect">
                                  <p:stCondLst>
                                    <p:cond delay="0"/>
                                  </p:stCondLst>
                                  <p:childTnLst>
                                    <p:anim calcmode="lin" valueType="num">
                                      <p:cBhvr additive="base">
                                        <p:cTn id="12" dur="500"/>
                                        <p:tgtEl>
                                          <p:spTgt spid="13"/>
                                        </p:tgtEl>
                                        <p:attrNameLst>
                                          <p:attrName>ppt_x</p:attrName>
                                        </p:attrNameLst>
                                      </p:cBhvr>
                                      <p:tavLst>
                                        <p:tav tm="0">
                                          <p:val>
                                            <p:strVal val="ppt_x"/>
                                          </p:val>
                                        </p:tav>
                                        <p:tav tm="100000">
                                          <p:val>
                                            <p:strVal val="ppt_x"/>
                                          </p:val>
                                        </p:tav>
                                      </p:tavLst>
                                    </p:anim>
                                    <p:anim calcmode="lin" valueType="num">
                                      <p:cBhvr additive="base">
                                        <p:cTn id="13" dur="500"/>
                                        <p:tgtEl>
                                          <p:spTgt spid="13"/>
                                        </p:tgtEl>
                                        <p:attrNameLst>
                                          <p:attrName>ppt_y</p:attrName>
                                        </p:attrNameLst>
                                      </p:cBhvr>
                                      <p:tavLst>
                                        <p:tav tm="0">
                                          <p:val>
                                            <p:strVal val="ppt_y"/>
                                          </p:val>
                                        </p:tav>
                                        <p:tav tm="100000">
                                          <p:val>
                                            <p:strVal val="1+ppt_h/2"/>
                                          </p:val>
                                        </p:tav>
                                      </p:tavLst>
                                    </p:anim>
                                    <p:set>
                                      <p:cBhvr>
                                        <p:cTn id="14" dur="1" fill="hold">
                                          <p:stCondLst>
                                            <p:cond delay="499"/>
                                          </p:stCondLst>
                                        </p:cTn>
                                        <p:tgtEl>
                                          <p:spTgt spid="13"/>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anim calcmode="lin" valueType="num">
                                      <p:cBhvr additive="base">
                                        <p:cTn id="19" dur="500" fill="hold"/>
                                        <p:tgtEl>
                                          <p:spTgt spid="24"/>
                                        </p:tgtEl>
                                        <p:attrNameLst>
                                          <p:attrName>ppt_x</p:attrName>
                                        </p:attrNameLst>
                                      </p:cBhvr>
                                      <p:tavLst>
                                        <p:tav tm="0">
                                          <p:val>
                                            <p:strVal val="#ppt_x"/>
                                          </p:val>
                                        </p:tav>
                                        <p:tav tm="100000">
                                          <p:val>
                                            <p:strVal val="#ppt_x"/>
                                          </p:val>
                                        </p:tav>
                                      </p:tavLst>
                                    </p:anim>
                                    <p:anim calcmode="lin" valueType="num">
                                      <p:cBhvr additive="base">
                                        <p:cTn id="20"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5"/>
                                        </p:tgtEl>
                                        <p:attrNameLst>
                                          <p:attrName>style.visibility</p:attrName>
                                        </p:attrNameLst>
                                      </p:cBhvr>
                                      <p:to>
                                        <p:strVal val="visible"/>
                                      </p:to>
                                    </p:set>
                                    <p:anim calcmode="lin" valueType="num">
                                      <p:cBhvr additive="base">
                                        <p:cTn id="25" dur="500" fill="hold"/>
                                        <p:tgtEl>
                                          <p:spTgt spid="25"/>
                                        </p:tgtEl>
                                        <p:attrNameLst>
                                          <p:attrName>ppt_x</p:attrName>
                                        </p:attrNameLst>
                                      </p:cBhvr>
                                      <p:tavLst>
                                        <p:tav tm="0">
                                          <p:val>
                                            <p:strVal val="#ppt_x"/>
                                          </p:val>
                                        </p:tav>
                                        <p:tav tm="100000">
                                          <p:val>
                                            <p:strVal val="#ppt_x"/>
                                          </p:val>
                                        </p:tav>
                                      </p:tavLst>
                                    </p:anim>
                                    <p:anim calcmode="lin" valueType="num">
                                      <p:cBhvr additive="base">
                                        <p:cTn id="26"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xit" presetSubtype="4" fill="hold" nodeType="clickEffect">
                                  <p:stCondLst>
                                    <p:cond delay="0"/>
                                  </p:stCondLst>
                                  <p:childTnLst>
                                    <p:anim calcmode="lin" valueType="num">
                                      <p:cBhvr additive="base">
                                        <p:cTn id="30" dur="500"/>
                                        <p:tgtEl>
                                          <p:spTgt spid="24"/>
                                        </p:tgtEl>
                                        <p:attrNameLst>
                                          <p:attrName>ppt_x</p:attrName>
                                        </p:attrNameLst>
                                      </p:cBhvr>
                                      <p:tavLst>
                                        <p:tav tm="0">
                                          <p:val>
                                            <p:strVal val="ppt_x"/>
                                          </p:val>
                                        </p:tav>
                                        <p:tav tm="100000">
                                          <p:val>
                                            <p:strVal val="ppt_x"/>
                                          </p:val>
                                        </p:tav>
                                      </p:tavLst>
                                    </p:anim>
                                    <p:anim calcmode="lin" valueType="num">
                                      <p:cBhvr additive="base">
                                        <p:cTn id="31" dur="500"/>
                                        <p:tgtEl>
                                          <p:spTgt spid="24"/>
                                        </p:tgtEl>
                                        <p:attrNameLst>
                                          <p:attrName>ppt_y</p:attrName>
                                        </p:attrNameLst>
                                      </p:cBhvr>
                                      <p:tavLst>
                                        <p:tav tm="0">
                                          <p:val>
                                            <p:strVal val="ppt_y"/>
                                          </p:val>
                                        </p:tav>
                                        <p:tav tm="100000">
                                          <p:val>
                                            <p:strVal val="1+ppt_h/2"/>
                                          </p:val>
                                        </p:tav>
                                      </p:tavLst>
                                    </p:anim>
                                    <p:set>
                                      <p:cBhvr>
                                        <p:cTn id="32" dur="1" fill="hold">
                                          <p:stCondLst>
                                            <p:cond delay="499"/>
                                          </p:stCondLst>
                                        </p:cTn>
                                        <p:tgtEl>
                                          <p:spTgt spid="24"/>
                                        </p:tgtEl>
                                        <p:attrNameLst>
                                          <p:attrName>style.visibility</p:attrName>
                                        </p:attrNameLst>
                                      </p:cBhvr>
                                      <p:to>
                                        <p:strVal val="hidden"/>
                                      </p:to>
                                    </p:set>
                                  </p:childTnLst>
                                </p:cTn>
                              </p:par>
                              <p:par>
                                <p:cTn id="33" presetID="2" presetClass="exit" presetSubtype="4" fill="hold" nodeType="withEffect">
                                  <p:stCondLst>
                                    <p:cond delay="0"/>
                                  </p:stCondLst>
                                  <p:childTnLst>
                                    <p:anim calcmode="lin" valueType="num">
                                      <p:cBhvr additive="base">
                                        <p:cTn id="34" dur="500"/>
                                        <p:tgtEl>
                                          <p:spTgt spid="25"/>
                                        </p:tgtEl>
                                        <p:attrNameLst>
                                          <p:attrName>ppt_x</p:attrName>
                                        </p:attrNameLst>
                                      </p:cBhvr>
                                      <p:tavLst>
                                        <p:tav tm="0">
                                          <p:val>
                                            <p:strVal val="ppt_x"/>
                                          </p:val>
                                        </p:tav>
                                        <p:tav tm="100000">
                                          <p:val>
                                            <p:strVal val="ppt_x"/>
                                          </p:val>
                                        </p:tav>
                                      </p:tavLst>
                                    </p:anim>
                                    <p:anim calcmode="lin" valueType="num">
                                      <p:cBhvr additive="base">
                                        <p:cTn id="35" dur="500"/>
                                        <p:tgtEl>
                                          <p:spTgt spid="25"/>
                                        </p:tgtEl>
                                        <p:attrNameLst>
                                          <p:attrName>ppt_y</p:attrName>
                                        </p:attrNameLst>
                                      </p:cBhvr>
                                      <p:tavLst>
                                        <p:tav tm="0">
                                          <p:val>
                                            <p:strVal val="ppt_y"/>
                                          </p:val>
                                        </p:tav>
                                        <p:tav tm="100000">
                                          <p:val>
                                            <p:strVal val="1+ppt_h/2"/>
                                          </p:val>
                                        </p:tav>
                                      </p:tavLst>
                                    </p:anim>
                                    <p:set>
                                      <p:cBhvr>
                                        <p:cTn id="36" dur="1" fill="hold">
                                          <p:stCondLst>
                                            <p:cond delay="499"/>
                                          </p:stCondLst>
                                        </p:cTn>
                                        <p:tgtEl>
                                          <p:spTgt spid="25"/>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26"/>
                                        </p:tgtEl>
                                        <p:attrNameLst>
                                          <p:attrName>style.visibility</p:attrName>
                                        </p:attrNameLst>
                                      </p:cBhvr>
                                      <p:to>
                                        <p:strVal val="visible"/>
                                      </p:to>
                                    </p:set>
                                    <p:anim calcmode="lin" valueType="num">
                                      <p:cBhvr additive="base">
                                        <p:cTn id="41" dur="500" fill="hold"/>
                                        <p:tgtEl>
                                          <p:spTgt spid="26"/>
                                        </p:tgtEl>
                                        <p:attrNameLst>
                                          <p:attrName>ppt_x</p:attrName>
                                        </p:attrNameLst>
                                      </p:cBhvr>
                                      <p:tavLst>
                                        <p:tav tm="0">
                                          <p:val>
                                            <p:strVal val="#ppt_x"/>
                                          </p:val>
                                        </p:tav>
                                        <p:tav tm="100000">
                                          <p:val>
                                            <p:strVal val="#ppt_x"/>
                                          </p:val>
                                        </p:tav>
                                      </p:tavLst>
                                    </p:anim>
                                    <p:anim calcmode="lin" valueType="num">
                                      <p:cBhvr additive="base">
                                        <p:cTn id="42"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xit" presetSubtype="4" fill="hold" nodeType="clickEffect">
                                  <p:stCondLst>
                                    <p:cond delay="0"/>
                                  </p:stCondLst>
                                  <p:childTnLst>
                                    <p:anim calcmode="lin" valueType="num">
                                      <p:cBhvr additive="base">
                                        <p:cTn id="46" dur="500"/>
                                        <p:tgtEl>
                                          <p:spTgt spid="26"/>
                                        </p:tgtEl>
                                        <p:attrNameLst>
                                          <p:attrName>ppt_x</p:attrName>
                                        </p:attrNameLst>
                                      </p:cBhvr>
                                      <p:tavLst>
                                        <p:tav tm="0">
                                          <p:val>
                                            <p:strVal val="ppt_x"/>
                                          </p:val>
                                        </p:tav>
                                        <p:tav tm="100000">
                                          <p:val>
                                            <p:strVal val="ppt_x"/>
                                          </p:val>
                                        </p:tav>
                                      </p:tavLst>
                                    </p:anim>
                                    <p:anim calcmode="lin" valueType="num">
                                      <p:cBhvr additive="base">
                                        <p:cTn id="47" dur="500"/>
                                        <p:tgtEl>
                                          <p:spTgt spid="26"/>
                                        </p:tgtEl>
                                        <p:attrNameLst>
                                          <p:attrName>ppt_y</p:attrName>
                                        </p:attrNameLst>
                                      </p:cBhvr>
                                      <p:tavLst>
                                        <p:tav tm="0">
                                          <p:val>
                                            <p:strVal val="ppt_y"/>
                                          </p:val>
                                        </p:tav>
                                        <p:tav tm="100000">
                                          <p:val>
                                            <p:strVal val="1+ppt_h/2"/>
                                          </p:val>
                                        </p:tav>
                                      </p:tavLst>
                                    </p:anim>
                                    <p:set>
                                      <p:cBhvr>
                                        <p:cTn id="48" dur="1" fill="hold">
                                          <p:stCondLst>
                                            <p:cond delay="499"/>
                                          </p:stCondLst>
                                        </p:cTn>
                                        <p:tgtEl>
                                          <p:spTgt spid="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16"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b"/>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功能演示：</a:t>
            </a:r>
            <a:r>
              <a:rPr lang="zh-CN" altLang="en-US" sz="3200" b="1" i="0" u="none" strike="noStrike">
                <a:solidFill>
                  <a:srgbClr val="333333"/>
                </a:solidFill>
                <a:latin typeface="Noto Sans SC"/>
                <a:ea typeface="Noto Sans SC"/>
                <a:cs typeface="Noto Sans SC"/>
                <a:sym typeface="Noto Sans SC"/>
              </a:rPr>
              <a:t>业主端</a:t>
            </a:r>
            <a:endParaRPr lang="en-US" sz="1100"/>
          </a:p>
        </p:txBody>
      </p:sp>
      <p:pic>
        <p:nvPicPr>
          <p:cNvPr id="18" name="图片 17" descr="post_object_image_1002210269"/>
          <p:cNvPicPr>
            <a:picLocks noChangeAspect="1"/>
          </p:cNvPicPr>
          <p:nvPr/>
        </p:nvPicPr>
        <p:blipFill>
          <a:blip r:embed="rId2"/>
          <a:stretch>
            <a:fillRect/>
          </a:stretch>
        </p:blipFill>
        <p:spPr>
          <a:xfrm>
            <a:off x="557893" y="1659391"/>
            <a:ext cx="8534400" cy="4791075"/>
          </a:xfrm>
          <a:prstGeom prst="rect">
            <a:avLst/>
          </a:prstGeom>
        </p:spPr>
      </p:pic>
      <p:pic>
        <p:nvPicPr>
          <p:cNvPr id="19" name="图片 18"/>
          <p:cNvPicPr>
            <a:picLocks noChangeAspect="1"/>
          </p:cNvPicPr>
          <p:nvPr/>
        </p:nvPicPr>
        <p:blipFill>
          <a:blip r:embed="rId3"/>
          <a:stretch>
            <a:fillRect/>
          </a:stretch>
        </p:blipFill>
        <p:spPr>
          <a:xfrm>
            <a:off x="1515836" y="1816554"/>
            <a:ext cx="8534400" cy="4648200"/>
          </a:xfrm>
          <a:prstGeom prst="rect">
            <a:avLst/>
          </a:prstGeom>
        </p:spPr>
      </p:pic>
      <p:pic>
        <p:nvPicPr>
          <p:cNvPr id="20" name="图片 19"/>
          <p:cNvPicPr>
            <a:picLocks noChangeAspect="1"/>
          </p:cNvPicPr>
          <p:nvPr/>
        </p:nvPicPr>
        <p:blipFill>
          <a:blip r:embed="rId4"/>
          <a:stretch>
            <a:fillRect/>
          </a:stretch>
        </p:blipFill>
        <p:spPr>
          <a:xfrm>
            <a:off x="2522764" y="1873704"/>
            <a:ext cx="8534400" cy="4591050"/>
          </a:xfrm>
          <a:prstGeom prst="rect">
            <a:avLst/>
          </a:prstGeom>
        </p:spPr>
      </p:pic>
      <p:pic>
        <p:nvPicPr>
          <p:cNvPr id="21" name="图片 20"/>
          <p:cNvPicPr>
            <a:picLocks noChangeAspect="1"/>
          </p:cNvPicPr>
          <p:nvPr/>
        </p:nvPicPr>
        <p:blipFill>
          <a:blip r:embed="rId5"/>
          <a:stretch>
            <a:fillRect/>
          </a:stretch>
        </p:blipFill>
        <p:spPr>
          <a:xfrm>
            <a:off x="3426279" y="1859416"/>
            <a:ext cx="8534400" cy="46196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500" fill="hold"/>
                                        <p:tgtEl>
                                          <p:spTgt spid="20"/>
                                        </p:tgtEl>
                                        <p:attrNameLst>
                                          <p:attrName>ppt_x</p:attrName>
                                        </p:attrNameLst>
                                      </p:cBhvr>
                                      <p:tavLst>
                                        <p:tav tm="0">
                                          <p:val>
                                            <p:strVal val="#ppt_x"/>
                                          </p:val>
                                        </p:tav>
                                        <p:tav tm="100000">
                                          <p:val>
                                            <p:strVal val="#ppt_x"/>
                                          </p:val>
                                        </p:tav>
                                      </p:tavLst>
                                    </p:anim>
                                    <p:anim calcmode="lin" valueType="num">
                                      <p:cBhvr additive="base">
                                        <p:cTn id="14"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additive="base">
                                        <p:cTn id="19" dur="500" fill="hold"/>
                                        <p:tgtEl>
                                          <p:spTgt spid="21"/>
                                        </p:tgtEl>
                                        <p:attrNameLst>
                                          <p:attrName>ppt_x</p:attrName>
                                        </p:attrNameLst>
                                      </p:cBhvr>
                                      <p:tavLst>
                                        <p:tav tm="0">
                                          <p:val>
                                            <p:strVal val="#ppt_x"/>
                                          </p:val>
                                        </p:tav>
                                        <p:tav tm="100000">
                                          <p:val>
                                            <p:strVal val="#ppt_x"/>
                                          </p:val>
                                        </p:tav>
                                      </p:tavLst>
                                    </p:anim>
                                    <p:anim calcmode="lin" valueType="num">
                                      <p:cBhvr additive="base">
                                        <p:cTn id="2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16"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b"/>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功能演示：</a:t>
            </a:r>
            <a:r>
              <a:rPr lang="zh-CN" altLang="en-US" sz="3200" b="1" i="0" u="none" strike="noStrike">
                <a:solidFill>
                  <a:srgbClr val="333333"/>
                </a:solidFill>
                <a:latin typeface="Noto Sans SC"/>
                <a:ea typeface="Noto Sans SC"/>
                <a:cs typeface="Noto Sans SC"/>
                <a:sym typeface="Noto Sans SC"/>
              </a:rPr>
              <a:t>物业端</a:t>
            </a:r>
            <a:endParaRPr lang="en-US" sz="1100"/>
          </a:p>
        </p:txBody>
      </p:sp>
      <p:pic>
        <p:nvPicPr>
          <p:cNvPr id="2" name="图片 1"/>
          <p:cNvPicPr>
            <a:picLocks noChangeAspect="1"/>
          </p:cNvPicPr>
          <p:nvPr/>
        </p:nvPicPr>
        <p:blipFill>
          <a:blip r:embed="rId2"/>
          <a:stretch>
            <a:fillRect/>
          </a:stretch>
        </p:blipFill>
        <p:spPr>
          <a:xfrm>
            <a:off x="536121" y="1795145"/>
            <a:ext cx="8534400" cy="4600575"/>
          </a:xfrm>
          <a:prstGeom prst="rect">
            <a:avLst/>
          </a:prstGeom>
        </p:spPr>
      </p:pic>
      <p:pic>
        <p:nvPicPr>
          <p:cNvPr id="4" name="图片 3"/>
          <p:cNvPicPr>
            <a:picLocks noChangeAspect="1"/>
          </p:cNvPicPr>
          <p:nvPr/>
        </p:nvPicPr>
        <p:blipFill>
          <a:blip r:embed="rId3"/>
          <a:stretch>
            <a:fillRect/>
          </a:stretch>
        </p:blipFill>
        <p:spPr>
          <a:xfrm>
            <a:off x="917121" y="1623468"/>
            <a:ext cx="8534400" cy="4781550"/>
          </a:xfrm>
          <a:prstGeom prst="rect">
            <a:avLst/>
          </a:prstGeom>
        </p:spPr>
      </p:pic>
      <p:pic>
        <p:nvPicPr>
          <p:cNvPr id="5" name="图片 4"/>
          <p:cNvPicPr>
            <a:picLocks noChangeAspect="1"/>
          </p:cNvPicPr>
          <p:nvPr/>
        </p:nvPicPr>
        <p:blipFill>
          <a:blip r:embed="rId4"/>
          <a:stretch>
            <a:fillRect/>
          </a:stretch>
        </p:blipFill>
        <p:spPr>
          <a:xfrm>
            <a:off x="1393371" y="1623468"/>
            <a:ext cx="8534400" cy="4762500"/>
          </a:xfrm>
          <a:prstGeom prst="rect">
            <a:avLst/>
          </a:prstGeom>
        </p:spPr>
      </p:pic>
      <p:pic>
        <p:nvPicPr>
          <p:cNvPr id="6" name="图片 5"/>
          <p:cNvPicPr>
            <a:picLocks noChangeAspect="1"/>
          </p:cNvPicPr>
          <p:nvPr/>
        </p:nvPicPr>
        <p:blipFill>
          <a:blip r:embed="rId5"/>
          <a:stretch>
            <a:fillRect/>
          </a:stretch>
        </p:blipFill>
        <p:spPr>
          <a:xfrm>
            <a:off x="1828800" y="1842815"/>
            <a:ext cx="8534400" cy="4552950"/>
          </a:xfrm>
          <a:prstGeom prst="rect">
            <a:avLst/>
          </a:prstGeom>
        </p:spPr>
      </p:pic>
      <p:pic>
        <p:nvPicPr>
          <p:cNvPr id="7" name="图片 6"/>
          <p:cNvPicPr>
            <a:picLocks noChangeAspect="1"/>
          </p:cNvPicPr>
          <p:nvPr/>
        </p:nvPicPr>
        <p:blipFill>
          <a:blip r:embed="rId6"/>
          <a:stretch>
            <a:fillRect/>
          </a:stretch>
        </p:blipFill>
        <p:spPr>
          <a:xfrm>
            <a:off x="2196193" y="1861865"/>
            <a:ext cx="8534400" cy="4514850"/>
          </a:xfrm>
          <a:prstGeom prst="rect">
            <a:avLst/>
          </a:prstGeom>
        </p:spPr>
      </p:pic>
      <p:pic>
        <p:nvPicPr>
          <p:cNvPr id="8" name="图片 7"/>
          <p:cNvPicPr>
            <a:picLocks noChangeAspect="1"/>
          </p:cNvPicPr>
          <p:nvPr/>
        </p:nvPicPr>
        <p:blipFill>
          <a:blip r:embed="rId7"/>
          <a:stretch>
            <a:fillRect/>
          </a:stretch>
        </p:blipFill>
        <p:spPr>
          <a:xfrm>
            <a:off x="2555421" y="1795190"/>
            <a:ext cx="8534400" cy="4619625"/>
          </a:xfrm>
          <a:prstGeom prst="rect">
            <a:avLst/>
          </a:prstGeom>
        </p:spPr>
      </p:pic>
      <p:pic>
        <p:nvPicPr>
          <p:cNvPr id="9" name="图片 8"/>
          <p:cNvPicPr>
            <a:picLocks noChangeAspect="1"/>
          </p:cNvPicPr>
          <p:nvPr/>
        </p:nvPicPr>
        <p:blipFill>
          <a:blip r:embed="rId8"/>
          <a:stretch>
            <a:fillRect/>
          </a:stretch>
        </p:blipFill>
        <p:spPr>
          <a:xfrm>
            <a:off x="2914650" y="1623468"/>
            <a:ext cx="8515350" cy="4800600"/>
          </a:xfrm>
          <a:prstGeom prst="rect">
            <a:avLst/>
          </a:prstGeom>
        </p:spPr>
      </p:pic>
      <p:pic>
        <p:nvPicPr>
          <p:cNvPr id="10" name="图片 9"/>
          <p:cNvPicPr>
            <a:picLocks noChangeAspect="1"/>
          </p:cNvPicPr>
          <p:nvPr/>
        </p:nvPicPr>
        <p:blipFill>
          <a:blip r:embed="rId9"/>
          <a:stretch>
            <a:fillRect/>
          </a:stretch>
        </p:blipFill>
        <p:spPr>
          <a:xfrm>
            <a:off x="3284764" y="1861865"/>
            <a:ext cx="8534400" cy="4572000"/>
          </a:xfrm>
          <a:prstGeom prst="rect">
            <a:avLst/>
          </a:prstGeom>
        </p:spPr>
      </p:pic>
      <p:pic>
        <p:nvPicPr>
          <p:cNvPr id="11" name="图片 10"/>
          <p:cNvPicPr>
            <a:picLocks noChangeAspect="1"/>
          </p:cNvPicPr>
          <p:nvPr/>
        </p:nvPicPr>
        <p:blipFill>
          <a:blip r:embed="rId10"/>
          <a:stretch>
            <a:fillRect/>
          </a:stretch>
        </p:blipFill>
        <p:spPr>
          <a:xfrm>
            <a:off x="3657600" y="1861548"/>
            <a:ext cx="8534400" cy="4600575"/>
          </a:xfrm>
          <a:prstGeom prst="rect">
            <a:avLst/>
          </a:prstGeom>
        </p:spPr>
      </p:pic>
      <p:pic>
        <p:nvPicPr>
          <p:cNvPr id="12" name="图片 11"/>
          <p:cNvPicPr>
            <a:picLocks noChangeAspect="1"/>
          </p:cNvPicPr>
          <p:nvPr/>
        </p:nvPicPr>
        <p:blipFill>
          <a:blip r:embed="rId11"/>
          <a:stretch>
            <a:fillRect/>
          </a:stretch>
        </p:blipFill>
        <p:spPr>
          <a:xfrm>
            <a:off x="3793671" y="1871118"/>
            <a:ext cx="8398329" cy="45910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ppt_x"/>
                                          </p:val>
                                        </p:tav>
                                        <p:tav tm="100000">
                                          <p:val>
                                            <p:strVal val="#ppt_x"/>
                                          </p:val>
                                        </p:tav>
                                      </p:tavLst>
                                    </p:anim>
                                    <p:anim calcmode="lin" valueType="num">
                                      <p:cBhvr additive="base">
                                        <p:cTn id="3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additive="base">
                                        <p:cTn id="43" dur="500" fill="hold"/>
                                        <p:tgtEl>
                                          <p:spTgt spid="10"/>
                                        </p:tgtEl>
                                        <p:attrNameLst>
                                          <p:attrName>ppt_x</p:attrName>
                                        </p:attrNameLst>
                                      </p:cBhvr>
                                      <p:tavLst>
                                        <p:tav tm="0">
                                          <p:val>
                                            <p:strVal val="#ppt_x"/>
                                          </p:val>
                                        </p:tav>
                                        <p:tav tm="100000">
                                          <p:val>
                                            <p:strVal val="#ppt_x"/>
                                          </p:val>
                                        </p:tav>
                                      </p:tavLst>
                                    </p:anim>
                                    <p:anim calcmode="lin" valueType="num">
                                      <p:cBhvr additive="base">
                                        <p:cTn id="4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1"/>
                                        </p:tgtEl>
                                        <p:attrNameLst>
                                          <p:attrName>style.visibility</p:attrName>
                                        </p:attrNameLst>
                                      </p:cBhvr>
                                      <p:to>
                                        <p:strVal val="visible"/>
                                      </p:to>
                                    </p:set>
                                    <p:anim calcmode="lin" valueType="num">
                                      <p:cBhvr additive="base">
                                        <p:cTn id="49" dur="500" fill="hold"/>
                                        <p:tgtEl>
                                          <p:spTgt spid="11"/>
                                        </p:tgtEl>
                                        <p:attrNameLst>
                                          <p:attrName>ppt_x</p:attrName>
                                        </p:attrNameLst>
                                      </p:cBhvr>
                                      <p:tavLst>
                                        <p:tav tm="0">
                                          <p:val>
                                            <p:strVal val="#ppt_x"/>
                                          </p:val>
                                        </p:tav>
                                        <p:tav tm="100000">
                                          <p:val>
                                            <p:strVal val="#ppt_x"/>
                                          </p:val>
                                        </p:tav>
                                      </p:tavLst>
                                    </p:anim>
                                    <p:anim calcmode="lin" valueType="num">
                                      <p:cBhvr additive="base">
                                        <p:cTn id="5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12"/>
                                        </p:tgtEl>
                                        <p:attrNameLst>
                                          <p:attrName>style.visibility</p:attrName>
                                        </p:attrNameLst>
                                      </p:cBhvr>
                                      <p:to>
                                        <p:strVal val="visible"/>
                                      </p:to>
                                    </p:set>
                                    <p:anim calcmode="lin" valueType="num">
                                      <p:cBhvr additive="base">
                                        <p:cTn id="55" dur="500" fill="hold"/>
                                        <p:tgtEl>
                                          <p:spTgt spid="12"/>
                                        </p:tgtEl>
                                        <p:attrNameLst>
                                          <p:attrName>ppt_x</p:attrName>
                                        </p:attrNameLst>
                                      </p:cBhvr>
                                      <p:tavLst>
                                        <p:tav tm="0">
                                          <p:val>
                                            <p:strVal val="#ppt_x"/>
                                          </p:val>
                                        </p:tav>
                                        <p:tav tm="100000">
                                          <p:val>
                                            <p:strVal val="#ppt_x"/>
                                          </p:val>
                                        </p:tav>
                                      </p:tavLst>
                                    </p:anim>
                                    <p:anim calcmode="lin" valueType="num">
                                      <p:cBhvr additive="base">
                                        <p:cTn id="5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06 实训总结与展望</a:t>
            </a:r>
            <a:endParaRPr lang="en-US" sz="1100"/>
          </a:p>
        </p:txBody>
      </p:sp>
      <p:sp>
        <p:nvSpPr>
          <p:cNvPr id="4" name="AutoShape 4"/>
          <p:cNvSpPr/>
          <p:nvPr/>
        </p:nvSpPr>
        <p:spPr>
          <a:xfrm>
            <a:off x="762000" y="2032000"/>
            <a:ext cx="3378200" cy="3175000"/>
          </a:xfrm>
          <a:prstGeom prst="roundRect">
            <a:avLst>
              <a:gd name="adj" fmla="val 0"/>
            </a:avLst>
          </a:prstGeom>
          <a:solidFill>
            <a:srgbClr val="FFFFFF">
              <a:alpha val="55000"/>
            </a:srgbClr>
          </a:solidFill>
          <a:ln w="12700" cap="flat" cmpd="sng">
            <a:solidFill>
              <a:srgbClr val="4CAF50">
                <a:alpha val="3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6800" y="2336800"/>
            <a:ext cx="457200" cy="457200"/>
          </a:xfrm>
          <a:prstGeom prst="rect">
            <a:avLst/>
          </a:prstGeom>
        </p:spPr>
      </p:pic>
      <p:sp>
        <p:nvSpPr>
          <p:cNvPr id="6" name="AutoShape 6"/>
          <p:cNvSpPr/>
          <p:nvPr/>
        </p:nvSpPr>
        <p:spPr>
          <a:xfrm>
            <a:off x="1625600" y="23368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CAF50"/>
                </a:solidFill>
                <a:latin typeface="Noto Sans SC"/>
                <a:ea typeface="Noto Sans SC"/>
                <a:cs typeface="Noto Sans SC"/>
                <a:sym typeface="Noto Sans SC"/>
              </a:rPr>
              <a:t>成果与收获</a:t>
            </a:r>
            <a:endParaRPr lang="en-US" sz="1100"/>
          </a:p>
        </p:txBody>
      </p:sp>
      <p:sp>
        <p:nvSpPr>
          <p:cNvPr id="7" name="AutoShape 7"/>
          <p:cNvSpPr/>
          <p:nvPr/>
        </p:nvSpPr>
        <p:spPr>
          <a:xfrm>
            <a:off x="1066800" y="3048000"/>
            <a:ext cx="28702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525252"/>
                </a:solidFill>
                <a:latin typeface="Noto Sans SC"/>
                <a:ea typeface="Noto Sans SC"/>
                <a:cs typeface="Noto Sans SC"/>
                <a:sym typeface="Noto Sans SC"/>
              </a:rPr>
              <a:t>深入掌握敏捷开发流程与团队协作规范，打通前后端交互逻辑闭环。独立完成核心功能模块的代码编写与调试，技术实操能力与工程化思维得到显著提升，积累了宝贵的实战经验。</a:t>
            </a:r>
            <a:endParaRPr lang="en-US" sz="1100"/>
          </a:p>
        </p:txBody>
      </p:sp>
      <p:sp>
        <p:nvSpPr>
          <p:cNvPr id="8" name="AutoShape 8"/>
          <p:cNvSpPr/>
          <p:nvPr/>
        </p:nvSpPr>
        <p:spPr>
          <a:xfrm>
            <a:off x="4406900" y="2032000"/>
            <a:ext cx="3378200" cy="3175000"/>
          </a:xfrm>
          <a:prstGeom prst="roundRect">
            <a:avLst>
              <a:gd name="adj" fmla="val 0"/>
            </a:avLst>
          </a:prstGeom>
          <a:solidFill>
            <a:srgbClr val="FFFFFF">
              <a:alpha val="55000"/>
            </a:srgbClr>
          </a:solidFill>
          <a:ln w="12700" cap="flat" cmpd="sng">
            <a:solidFill>
              <a:srgbClr val="FB8C00">
                <a:alpha val="3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11700" y="2336800"/>
            <a:ext cx="457200" cy="457200"/>
          </a:xfrm>
          <a:prstGeom prst="rect">
            <a:avLst/>
          </a:prstGeom>
        </p:spPr>
      </p:pic>
      <p:sp>
        <p:nvSpPr>
          <p:cNvPr id="10" name="AutoShape 10"/>
          <p:cNvSpPr/>
          <p:nvPr/>
        </p:nvSpPr>
        <p:spPr>
          <a:xfrm>
            <a:off x="5270500" y="23368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B8C00"/>
                </a:solidFill>
                <a:latin typeface="Noto Sans SC"/>
                <a:ea typeface="Noto Sans SC"/>
                <a:cs typeface="Noto Sans SC"/>
                <a:sym typeface="Noto Sans SC"/>
              </a:rPr>
              <a:t>反思与不足</a:t>
            </a:r>
            <a:endParaRPr lang="en-US" sz="1100"/>
          </a:p>
        </p:txBody>
      </p:sp>
      <p:sp>
        <p:nvSpPr>
          <p:cNvPr id="11" name="AutoShape 11"/>
          <p:cNvSpPr/>
          <p:nvPr/>
        </p:nvSpPr>
        <p:spPr>
          <a:xfrm>
            <a:off x="4711700" y="3048000"/>
            <a:ext cx="28702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525252"/>
                </a:solidFill>
                <a:latin typeface="Noto Sans SC"/>
                <a:ea typeface="Noto Sans SC"/>
                <a:cs typeface="Noto Sans SC"/>
                <a:sym typeface="Noto Sans SC"/>
              </a:rPr>
              <a:t>系统在高并发场景下的响应速度仍有优化空间，部分模块代码耦合度偏高，维护成本有待降低。面对需求变更时，前期的风险预判与方案调整效率仍需加强，文档沉淀也需更加规范细致。</a:t>
            </a:r>
            <a:endParaRPr lang="en-US" sz="1100"/>
          </a:p>
        </p:txBody>
      </p:sp>
      <p:sp>
        <p:nvSpPr>
          <p:cNvPr id="12" name="AutoShape 12"/>
          <p:cNvSpPr/>
          <p:nvPr/>
        </p:nvSpPr>
        <p:spPr>
          <a:xfrm>
            <a:off x="8051800" y="2032000"/>
            <a:ext cx="3378200" cy="3175000"/>
          </a:xfrm>
          <a:prstGeom prst="roundRect">
            <a:avLst>
              <a:gd name="adj" fmla="val 0"/>
            </a:avLst>
          </a:prstGeom>
          <a:solidFill>
            <a:srgbClr val="FFFFFF">
              <a:alpha val="55000"/>
            </a:srgbClr>
          </a:solidFill>
          <a:ln w="12700" cap="flat" cmpd="sng">
            <a:solidFill>
              <a:srgbClr val="2196F3">
                <a:alpha val="3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56600" y="2336800"/>
            <a:ext cx="457200" cy="457200"/>
          </a:xfrm>
          <a:prstGeom prst="rect">
            <a:avLst/>
          </a:prstGeom>
        </p:spPr>
      </p:pic>
      <p:sp>
        <p:nvSpPr>
          <p:cNvPr id="14" name="AutoShape 14"/>
          <p:cNvSpPr/>
          <p:nvPr/>
        </p:nvSpPr>
        <p:spPr>
          <a:xfrm>
            <a:off x="8915400" y="23368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196F3"/>
                </a:solidFill>
                <a:latin typeface="Noto Sans SC"/>
                <a:ea typeface="Noto Sans SC"/>
                <a:cs typeface="Noto Sans SC"/>
                <a:sym typeface="Noto Sans SC"/>
              </a:rPr>
              <a:t>规划与展望</a:t>
            </a:r>
            <a:endParaRPr lang="en-US" sz="1100"/>
          </a:p>
        </p:txBody>
      </p:sp>
      <p:sp>
        <p:nvSpPr>
          <p:cNvPr id="15" name="AutoShape 15"/>
          <p:cNvSpPr/>
          <p:nvPr/>
        </p:nvSpPr>
        <p:spPr>
          <a:xfrm>
            <a:off x="8356600" y="3048000"/>
            <a:ext cx="28702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525252"/>
                </a:solidFill>
                <a:latin typeface="Noto Sans SC"/>
                <a:ea typeface="Noto Sans SC"/>
                <a:cs typeface="Noto Sans SC"/>
                <a:sym typeface="Noto Sans SC"/>
              </a:rPr>
              <a:t>持续优化系统架构，引入微服务设计降低耦合度；探索AI技术在业务场景中的创新应用。加强技术复盘与知识共享，将实训经验转化为长效成长动力，在技术深耕与业务融合中不断突破。</a:t>
            </a:r>
            <a:endParaRPr lang="en-US" sz="1100"/>
          </a:p>
        </p:txBody>
      </p:sp>
      <p:sp>
        <p:nvSpPr>
          <p:cNvPr id="16" name="AutoShape 16"/>
          <p:cNvSpPr/>
          <p:nvPr/>
        </p:nvSpPr>
        <p:spPr>
          <a:xfrm>
            <a:off x="762000" y="5651500"/>
            <a:ext cx="10668000" cy="635000"/>
          </a:xfrm>
          <a:prstGeom prst="roundRect">
            <a:avLst>
              <a:gd name="adj" fmla="val 0"/>
            </a:avLst>
          </a:prstGeom>
          <a:solidFill>
            <a:srgbClr val="4CAF50">
              <a:alpha val="1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889000" y="5753100"/>
            <a:ext cx="10414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333333"/>
                </a:solidFill>
                <a:latin typeface="Noto Sans SC"/>
                <a:ea typeface="Noto Sans SC"/>
                <a:cs typeface="Noto Sans SC"/>
                <a:sym typeface="Noto Sans SC"/>
              </a:rPr>
              <a:t>“ 以终为始，行而不辍。将实训的经验与反思转化为前行的动力，在技术探索的道路上持续精进。”</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实训总结与展望</a:t>
            </a:r>
            <a:endParaRPr lang="en-US" sz="1100"/>
          </a:p>
        </p:txBody>
      </p:sp>
      <p:sp>
        <p:nvSpPr>
          <p:cNvPr id="4" name="AutoShape 4"/>
          <p:cNvSpPr/>
          <p:nvPr/>
        </p:nvSpPr>
        <p:spPr>
          <a:xfrm>
            <a:off x="762000" y="1651000"/>
            <a:ext cx="5207000" cy="4318000"/>
          </a:xfrm>
          <a:prstGeom prst="roundRect">
            <a:avLst>
              <a:gd name="adj" fmla="val 0"/>
            </a:avLst>
          </a:prstGeom>
          <a:solidFill>
            <a:srgbClr val="FFFFFF">
              <a:alpha val="60000"/>
            </a:srgbClr>
          </a:solidFill>
          <a:ln w="12700" cap="flat" cmpd="sng">
            <a:solidFill>
              <a:srgbClr val="4CAF50">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1905000"/>
            <a:ext cx="4699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CAF50"/>
                </a:solidFill>
                <a:latin typeface="Noto Sans SC"/>
                <a:ea typeface="Noto Sans SC"/>
                <a:cs typeface="Noto Sans SC"/>
                <a:sym typeface="Noto Sans SC"/>
              </a:rPr>
              <a:t>01 / 核心收获与技术沉淀</a:t>
            </a:r>
            <a:endParaRPr lang="en-US" sz="1100"/>
          </a:p>
        </p:txBody>
      </p:sp>
      <p:cxnSp>
        <p:nvCxnSpPr>
          <p:cNvPr id="6" name="Connector 6"/>
          <p:cNvCxnSpPr/>
          <p:nvPr/>
        </p:nvCxnSpPr>
        <p:spPr>
          <a:xfrm rot="-9291">
            <a:off x="1016009" y="2470150"/>
            <a:ext cx="4699000" cy="12700"/>
          </a:xfrm>
          <a:prstGeom prst="line">
            <a:avLst/>
          </a:prstGeom>
          <a:solidFill>
            <a:srgbClr val="DEE0E3">
              <a:alpha val="100000"/>
            </a:srgbClr>
          </a:solidFill>
          <a:ln w="25400" cap="flat" cmpd="sng">
            <a:solidFill>
              <a:srgbClr val="4CAF50">
                <a:alpha val="30000"/>
              </a:srgbClr>
            </a:solidFill>
            <a:prstDash val="solid"/>
            <a:round/>
            <a:headEnd type="none" w="lg" len="lg"/>
            <a:tailEnd type="none" w="lg" len="lg"/>
          </a:ln>
        </p:spPr>
      </p:cxn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794000"/>
            <a:ext cx="304800" cy="304800"/>
          </a:xfrm>
          <a:prstGeom prst="rect">
            <a:avLst/>
          </a:prstGeom>
        </p:spPr>
      </p:pic>
      <p:sp>
        <p:nvSpPr>
          <p:cNvPr id="8" name="AutoShape 8"/>
          <p:cNvSpPr/>
          <p:nvPr/>
        </p:nvSpPr>
        <p:spPr>
          <a:xfrm>
            <a:off x="1460500" y="2794000"/>
            <a:ext cx="431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333333"/>
                </a:solidFill>
                <a:latin typeface="Noto Sans SC"/>
                <a:ea typeface="Noto Sans SC"/>
                <a:cs typeface="Noto Sans SC"/>
                <a:sym typeface="Noto Sans SC"/>
              </a:rPr>
              <a:t>全栈开发能力进阶</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555555"/>
                </a:solidFill>
                <a:latin typeface="Noto Sans SC"/>
                <a:ea typeface="Noto Sans SC"/>
                <a:cs typeface="Noto Sans SC"/>
                <a:sym typeface="Noto Sans SC"/>
              </a:rPr>
              <a:t>深度实践 Spring Boot 后端架构与 Vue3 前端生态，熟练运用 JWT 鉴权、RBAC 权限模型等核心技术，建立了规范化、工程化的代码编写思维与项目协作意识。</a:t>
            </a:r>
            <a:endParaRPr lang="en-US" sz="1100"/>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4318000"/>
            <a:ext cx="304800" cy="304800"/>
          </a:xfrm>
          <a:prstGeom prst="rect">
            <a:avLst/>
          </a:prstGeom>
        </p:spPr>
      </p:pic>
      <p:sp>
        <p:nvSpPr>
          <p:cNvPr id="10" name="AutoShape 10"/>
          <p:cNvSpPr/>
          <p:nvPr/>
        </p:nvSpPr>
        <p:spPr>
          <a:xfrm>
            <a:off x="1460500" y="4318000"/>
            <a:ext cx="431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333333"/>
                </a:solidFill>
                <a:latin typeface="Noto Sans SC"/>
                <a:ea typeface="Noto Sans SC"/>
                <a:cs typeface="Noto Sans SC"/>
                <a:sym typeface="Noto Sans SC"/>
              </a:rPr>
              <a:t>AI 驱动的人机协同范式</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555555"/>
                </a:solidFill>
                <a:latin typeface="Noto Sans SC"/>
                <a:ea typeface="Noto Sans SC"/>
                <a:cs typeface="Noto Sans SC"/>
                <a:sym typeface="Noto Sans SC"/>
              </a:rPr>
              <a:t>深刻体会 AI 在代码生成、需求分析、文档编写等重复性工作中的提效优势，探索出“人类定义架构与逻辑 + AI 执行细节实现”的高效开发新模式。</a:t>
            </a:r>
            <a:endParaRPr lang="en-US" sz="1100"/>
          </a:p>
        </p:txBody>
      </p:sp>
      <p:sp>
        <p:nvSpPr>
          <p:cNvPr id="11" name="AutoShape 11"/>
          <p:cNvSpPr/>
          <p:nvPr/>
        </p:nvSpPr>
        <p:spPr>
          <a:xfrm>
            <a:off x="6223000" y="1651000"/>
            <a:ext cx="5207000" cy="4318000"/>
          </a:xfrm>
          <a:prstGeom prst="roundRect">
            <a:avLst>
              <a:gd name="adj" fmla="val 0"/>
            </a:avLst>
          </a:prstGeom>
          <a:solidFill>
            <a:srgbClr val="FFFFFF">
              <a:alpha val="60000"/>
            </a:srgbClr>
          </a:solidFill>
          <a:ln w="12700" cap="flat" cmpd="sng">
            <a:solidFill>
              <a:srgbClr val="4CAF50">
                <a:alpha val="2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6477000" y="1905000"/>
            <a:ext cx="4699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CAF50"/>
                </a:solidFill>
                <a:latin typeface="Noto Sans SC"/>
                <a:ea typeface="Noto Sans SC"/>
                <a:cs typeface="Noto Sans SC"/>
                <a:sym typeface="Noto Sans SC"/>
              </a:rPr>
              <a:t>02 / 现状反思与未来蓝图</a:t>
            </a:r>
            <a:endParaRPr lang="en-US" sz="1100"/>
          </a:p>
        </p:txBody>
      </p:sp>
      <p:cxnSp>
        <p:nvCxnSpPr>
          <p:cNvPr id="13" name="Connector 13"/>
          <p:cNvCxnSpPr/>
          <p:nvPr/>
        </p:nvCxnSpPr>
        <p:spPr>
          <a:xfrm rot="-9291">
            <a:off x="6477009" y="2470150"/>
            <a:ext cx="4699000" cy="12700"/>
          </a:xfrm>
          <a:prstGeom prst="line">
            <a:avLst/>
          </a:prstGeom>
          <a:solidFill>
            <a:srgbClr val="DEE0E3">
              <a:alpha val="100000"/>
            </a:srgbClr>
          </a:solidFill>
          <a:ln w="25400" cap="flat" cmpd="sng">
            <a:solidFill>
              <a:srgbClr val="4CAF50">
                <a:alpha val="30000"/>
              </a:srgbClr>
            </a:solidFill>
            <a:prstDash val="solid"/>
            <a:round/>
            <a:headEnd type="none" w="lg" len="lg"/>
            <a:tailEnd type="none" w="lg" len="lg"/>
          </a:ln>
        </p:spPr>
      </p:cxn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2794000"/>
            <a:ext cx="304800" cy="304800"/>
          </a:xfrm>
          <a:prstGeom prst="rect">
            <a:avLst/>
          </a:prstGeom>
        </p:spPr>
      </p:pic>
      <p:sp>
        <p:nvSpPr>
          <p:cNvPr id="15" name="AutoShape 15"/>
          <p:cNvSpPr/>
          <p:nvPr/>
        </p:nvSpPr>
        <p:spPr>
          <a:xfrm>
            <a:off x="6921500" y="2794000"/>
            <a:ext cx="431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333333"/>
                </a:solidFill>
                <a:latin typeface="Noto Sans SC"/>
                <a:ea typeface="Noto Sans SC"/>
                <a:cs typeface="Noto Sans SC"/>
                <a:sym typeface="Noto Sans SC"/>
              </a:rPr>
              <a:t>当前系统的局限性与痛点</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555555"/>
                </a:solidFill>
                <a:latin typeface="Noto Sans SC"/>
                <a:ea typeface="Noto Sans SC"/>
                <a:cs typeface="Noto Sans SC"/>
                <a:sym typeface="Noto Sans SC"/>
              </a:rPr>
              <a:t>功能层面缺乏真实支付链路与移动端适配，架构受限于单体模式，数据维度较为单一，在应对高并发访问与复杂业务场景的扩展性上存在明显短板。</a:t>
            </a:r>
            <a:endParaRPr lang="en-US" sz="1100"/>
          </a:p>
        </p:txBody>
      </p:sp>
      <p:sp>
        <p:nvSpPr>
          <p:cNvPr id="16" name="AutoShape 16"/>
          <p:cNvSpPr/>
          <p:nvPr/>
        </p:nvSpPr>
        <p:spPr>
          <a:xfrm>
            <a:off x="6477000" y="4381500"/>
            <a:ext cx="2349500" cy="1397000"/>
          </a:xfrm>
          <a:prstGeom prst="roundRect">
            <a:avLst>
              <a:gd name="adj" fmla="val 0"/>
            </a:avLst>
          </a:prstGeom>
          <a:solidFill>
            <a:srgbClr val="4CAF50">
              <a:alpha val="8000"/>
            </a:srgbClr>
          </a:solidFill>
          <a:ln cap="flat" cmpd="sng">
            <a:solidFill>
              <a:srgbClr val="329636">
                <a:alpha val="8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04000" y="4508500"/>
            <a:ext cx="228600" cy="228600"/>
          </a:xfrm>
          <a:prstGeom prst="rect">
            <a:avLst/>
          </a:prstGeom>
        </p:spPr>
      </p:pic>
      <p:sp>
        <p:nvSpPr>
          <p:cNvPr id="18" name="AutoShape 18"/>
          <p:cNvSpPr/>
          <p:nvPr/>
        </p:nvSpPr>
        <p:spPr>
          <a:xfrm>
            <a:off x="6858000" y="4508500"/>
            <a:ext cx="2032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4CAF50"/>
                </a:solidFill>
                <a:latin typeface="Noto Sans SC"/>
                <a:ea typeface="Noto Sans SC"/>
                <a:cs typeface="Noto Sans SC"/>
                <a:sym typeface="Noto Sans SC"/>
              </a:rPr>
              <a:t>场景与功能扩容</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555555"/>
                </a:solidFill>
                <a:latin typeface="Noto Sans SC"/>
                <a:ea typeface="Noto Sans SC"/>
                <a:cs typeface="Noto Sans SC"/>
                <a:sym typeface="Noto Sans SC"/>
              </a:rPr>
              <a:t>集成IoT设备互联，拓展社区便民服务场景，对接第三方真实支付渠道，打造一站式生活服务闭环。</a:t>
            </a:r>
            <a:endParaRPr lang="en-US" sz="1100"/>
          </a:p>
        </p:txBody>
      </p:sp>
      <p:sp>
        <p:nvSpPr>
          <p:cNvPr id="19" name="AutoShape 19"/>
          <p:cNvSpPr/>
          <p:nvPr/>
        </p:nvSpPr>
        <p:spPr>
          <a:xfrm>
            <a:off x="8953500" y="4381500"/>
            <a:ext cx="2349500" cy="1397000"/>
          </a:xfrm>
          <a:prstGeom prst="roundRect">
            <a:avLst>
              <a:gd name="adj" fmla="val 0"/>
            </a:avLst>
          </a:prstGeom>
          <a:solidFill>
            <a:srgbClr val="4CAF50">
              <a:alpha val="8000"/>
            </a:srgbClr>
          </a:solidFill>
          <a:ln cap="flat" cmpd="sng">
            <a:solidFill>
              <a:srgbClr val="329636">
                <a:alpha val="8000"/>
              </a:srgbClr>
            </a:solid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080500" y="4508500"/>
            <a:ext cx="228600" cy="228600"/>
          </a:xfrm>
          <a:prstGeom prst="rect">
            <a:avLst/>
          </a:prstGeom>
        </p:spPr>
      </p:pic>
      <p:sp>
        <p:nvSpPr>
          <p:cNvPr id="21" name="AutoShape 21"/>
          <p:cNvSpPr/>
          <p:nvPr/>
        </p:nvSpPr>
        <p:spPr>
          <a:xfrm>
            <a:off x="9334500" y="4508500"/>
            <a:ext cx="2032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4CAF50"/>
                </a:solidFill>
                <a:latin typeface="Noto Sans SC"/>
                <a:ea typeface="Noto Sans SC"/>
                <a:cs typeface="Noto Sans SC"/>
                <a:sym typeface="Noto Sans SC"/>
              </a:rPr>
              <a:t>架构与技术升级</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555555"/>
                </a:solidFill>
                <a:latin typeface="Noto Sans SC"/>
                <a:ea typeface="Noto Sans SC"/>
                <a:cs typeface="Noto Sans SC"/>
                <a:sym typeface="Noto Sans SC"/>
              </a:rPr>
              <a:t>推进微服务拆分与容器化部署，引入大数据挖掘用户价值，同步开发多端App实现全场景覆盖。</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10414000" y="-889000"/>
            <a:ext cx="2286000" cy="2286000"/>
          </a:xfrm>
          <a:prstGeom prst="ellipse">
            <a:avLst/>
          </a:prstGeom>
          <a:solidFill>
            <a:srgbClr val="4CAF50">
              <a:alpha val="15000"/>
            </a:srgbClr>
          </a:solidFill>
          <a:ln cap="flat" cmpd="sng">
            <a:solidFill>
              <a:srgbClr val="329636">
                <a:alpha val="15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1270000" y="4953000"/>
            <a:ext cx="3048000" cy="3048000"/>
          </a:xfrm>
          <a:prstGeom prst="ellipse">
            <a:avLst/>
          </a:prstGeom>
          <a:solidFill>
            <a:srgbClr val="4CAF50">
              <a:alpha val="15000"/>
            </a:srgbClr>
          </a:solidFill>
          <a:ln cap="flat" cmpd="sng">
            <a:solidFill>
              <a:srgbClr val="329636">
                <a:alpha val="15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381000" y="2476500"/>
            <a:ext cx="114300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333333"/>
                </a:solidFill>
                <a:latin typeface="Noto Sans SC"/>
                <a:ea typeface="Noto Sans SC"/>
                <a:cs typeface="Noto Sans SC"/>
                <a:sym typeface="Noto Sans SC"/>
              </a:rPr>
              <a:t>感谢老师的聆听与指导！</a:t>
            </a:r>
            <a:endParaRPr lang="en-US" sz="1100"/>
          </a:p>
        </p:txBody>
      </p:sp>
      <p:sp>
        <p:nvSpPr>
          <p:cNvPr id="6" name="AutoShape 6"/>
          <p:cNvSpPr/>
          <p:nvPr/>
        </p:nvSpPr>
        <p:spPr>
          <a:xfrm>
            <a:off x="5524500" y="4254500"/>
            <a:ext cx="1143000" cy="50800"/>
          </a:xfrm>
          <a:prstGeom prst="roundRect">
            <a:avLst>
              <a:gd name="adj" fmla="val 0"/>
            </a:avLst>
          </a:prstGeom>
          <a:solidFill>
            <a:srgbClr val="4CAF50">
              <a:alpha val="100000"/>
            </a:srgbClr>
          </a:solidFill>
          <a:ln cap="flat" cmpd="sng">
            <a:solidFill>
              <a:srgbClr val="329636">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635000" y="4953000"/>
            <a:ext cx="1092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33000"/>
              </a:lnSpc>
              <a:defRPr/>
            </a:pPr>
            <a:r>
              <a:rPr lang="en-US" sz="1800" b="0" i="0" u="none" strike="noStrike">
                <a:solidFill>
                  <a:srgbClr val="555555"/>
                </a:solidFill>
                <a:latin typeface="Noto Sans SC"/>
                <a:ea typeface="Noto Sans SC"/>
                <a:cs typeface="Noto Sans SC"/>
                <a:sym typeface="Noto Sans SC"/>
              </a:rPr>
              <a:t>以科技赋能社区 · 用智慧点亮生活 · 共建美好人居环境</a:t>
            </a:r>
            <a:endParaRPr lang="en-US" sz="1400" b="0" i="0" u="none" strike="noStrike">
              <a:solidFill>
                <a:srgbClr val="757575">
                  <a:alpha val="90196"/>
                </a:srgbClr>
              </a:solidFill>
              <a:latin typeface="Noto Sans SC"/>
              <a:ea typeface="Noto Sans SC"/>
              <a:cs typeface="Noto Sans SC"/>
              <a:sym typeface="Noto Sans SC"/>
            </a:endParaRPr>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4164</Words>
  <Application>WPS Office WWO_wpscloud_20260623190606-b172d4396d</Application>
  <PresentationFormat/>
  <Paragraphs>315</Paragraphs>
  <Slides>21</Slides>
  <Notes>0</Notes>
  <HiddenSlides>0</HiddenSlides>
  <MMClips>0</MMClips>
  <ScaleCrop>false</ScaleCrop>
  <HeadingPairs>
    <vt:vector size="6" baseType="variant">
      <vt:variant>
        <vt:lpstr>已用的字体</vt:lpstr>
      </vt:variant>
      <vt:variant>
        <vt:i4>16</vt:i4>
      </vt:variant>
      <vt:variant>
        <vt:lpstr>主题</vt:lpstr>
      </vt:variant>
      <vt:variant>
        <vt:i4>2</vt:i4>
      </vt:variant>
      <vt:variant>
        <vt:lpstr>幻灯片标题</vt:lpstr>
      </vt:variant>
      <vt:variant>
        <vt:i4>21</vt:i4>
      </vt:variant>
    </vt:vector>
  </HeadingPairs>
  <TitlesOfParts>
    <vt:vector size="39" baseType="lpstr">
      <vt:lpstr>Arial</vt:lpstr>
      <vt:lpstr>宋体</vt:lpstr>
      <vt:lpstr>Wingdings</vt:lpstr>
      <vt:lpstr>Arial</vt:lpstr>
      <vt:lpstr>Noto Sans SC</vt:lpstr>
      <vt:lpstr>Noto Sans SC</vt:lpstr>
      <vt:lpstr>宋体</vt:lpstr>
      <vt:lpstr>汉仪书宋二KW</vt:lpstr>
      <vt:lpstr>微软雅黑</vt:lpstr>
      <vt:lpstr>汉仪旗黑KW 55S</vt:lpstr>
      <vt:lpstr>Consolas</vt:lpstr>
      <vt:lpstr>Source Code Pro</vt:lpstr>
      <vt:lpstr>Kingsoft Confetti</vt:lpstr>
      <vt:lpstr>Noto Emoji</vt:lpstr>
      <vt:lpstr>quote-cjk-patch</vt:lpstr>
      <vt:lpstr>quote-cjk-patch</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dcterms:created xsi:type="dcterms:W3CDTF">2026-07-07T04:03:25Z</dcterms:created>
  <dcterms:modified xsi:type="dcterms:W3CDTF">2026-07-07T04:03:25Z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{"Label":"1","ContentProducer":"001191110102MACQD9K64010000","ProduceID":"7659292525907479501","ReservedCode1":"","ContentPropagator":"","PropagateID":"","ReservedCode2":""}</vt:lpwstr>
  </property>
  <property fmtid="{D5CDD505-2E9C-101B-9397-08002B2CF9AE}" pid="3" name="ICV">
    <vt:lpwstr>858A27494A60A843044A4B6A44DFC787_42</vt:lpwstr>
  </property>
  <property fmtid="{D5CDD505-2E9C-101B-9397-08002B2CF9AE}" pid="4" name="KSOProductBuildVer">
    <vt:lpwstr>2052-12.9.0.27451</vt:lpwstr>
  </property>
</Properties>
</file>